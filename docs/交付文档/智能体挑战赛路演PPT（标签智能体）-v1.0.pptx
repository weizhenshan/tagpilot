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开场（30 秒）：大家好，我们是 TagPilot 战队，作品是「客群圈选与洞察场景下的标签智能体」。一句话：让客户经理用一句中文，圈出对的客群，看懂这群人。接下来 8 分钟，我按竞赛模板的 12 个部分讲：痛点、方案、架构、流程、模块、可控生成、实测数据、演示、工程化、计划、总结。所有数字都来自仓库里可复核的报告，口径我会在脚注里写清楚。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痛点（1 分 30 秒）：第一，标签规模已经不是「记不住」的问题，是「口径对不上」的问题 —— 969 个标签、5470 条别名、1723 条码值，客户经理靠目录翻找，口径靠口头对齐。第二，客群圈完就结束了，没有「看客群」的标准动作，结论不可复现、没有基准。右下四条是我们写进验收的红线，后面每一页的数字都要过这四条。注意：人工耗时我没有做对照测量，所以这一页不放「节省 4 小时」这类数字。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方案与价值（1 分 30 秒）：核心就一句话 —— 把「翻目录、对口径、取数、找基准」四步手工链路，收成一个可核验的动作。三个数字：检索召回 0.9907（宏观口径，微观是 0.9936，两个我都列出来了）；端到端方案判定 398/500；合规红线三项全零。第三个数字我们最看重，因为在银行场景里，圈出一个越权标签就是合规事故。最后强调：人工基线我们没测，所以不编时间节省。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架构（1 分钟）：四层。输入层是工作台，嵌在若依的 /agent 路由里，走 iframe + SSE。处理层里左边是 Java 控制面 —— 身份、资格、发布版本、编译、统计、建群六项权威全在 Java，所以我们能接进现有系统而不改业务系统；右边三条 Python 能力链：理解层做六通道召回加 RRF 加 BGE 重排，编排层是 Claude Agent SDK 单循环加五个工具加确定性 Guard，洞察层是三个技能。底座是 MySQL、Milvus、Redis 和加密 SQLite。输出层两个东西：客群方案和洞察报告，中间有一个硬闸门 auto_execute=false。注意浏览器从不直连 Python，权限只有一个答案。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流程图（1 分 15 秒）：五个节点。一，需求进入 —— Java 注入 owner、线程、发布版本和资格，生成不可变运行记录，同 ID 同原文幂等。二，检索取证 —— 三个工具在资格集内取证。三，方案成型 —— 编排成条件树自查。四，Guard 确定性校验 —— 来源、数值、时间、冻结条件、需求覆盖五个维度，纯 Python，手工编辑也走同一个 Guard。五，人工确认后 Java 编译成规则 SQL、统计人数、写客群。右边三条分支：要澄清、能力缺口、预算收敛降级。关键设计是这三条分支都有明确出口 —— 尤其降级：L2/L3/L4 全都不能统计或建群，预算耗尽绝不宣称「业务上没有这个标签」。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模块详解（1 分 15 秒）：只讲三个难点。A 语义检索，难点是「口径不能近似」—— 「超过 100 万」在我们这里不允许近似成「100 万以上」，桶不严丝合缝就返回无法表达。B 编排层，难点是模型会编，但权限和口径不能编 —— 所以 Guard 和 SDK 完全解耦，工具、提交、手工编辑三条路径共用同一套校验。C 洞察，难点是结论要可复核又不能泄露个体 —— 数字只来自事实登记表，统计诊断的 Wilson 区间由 Guard 独立重算，任一格小于 20 人整组抑制，防止从合计减去其余格反推小格。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可控生成（1 分 15 秒）：五道控制。一，条件必须绑定证据，不能凭空说。二，输出不是自然语言，是结构化条件树，深度、组数、ID 唯一性都有硬约束。三，五维确定性 Guard：来源、数值、时间、冻结条件、需求覆盖。四，资格在每次检索时重算，空资格必须空结果。五，auto_execute 硬编码为 false，合法 DSL 也不执行。右边是实测：三项零违规 —— 幻觉标签 0/1200、越权标签 0/1200、错误自动执行 0/600。最后那条也请评委注意：我们的失败里 20/26 是预算收敛，不是语义绑错，这个结论只在 max_turns=10、预算 1 美元条件下成立。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验证数据（1 分 30 秒）：先看五个用例 —— 正常、边界口径、越权、澄清、码值边界，全通过。口径那条请评委注意：「超过 100 万」我们不允许近似成「100 万以上」，桶不严丝合缝就返回无法表达。下面是受控 A/B：我们换了语义数据，L1 净收益是 0；12 个召回缺失全部是 NFKC 配置修好的；15 例固定回归从 14/15 到 15/15，p95 时延从 81 秒降到 18 秒；HOLDOUT 200/200。最后一行和底部这四条边界我必须主动说清楚 —— 人工基线没测、L2 是抽样、稳定性 NOT_MEASURED、L3 本轮不适用。这些在报告里都是白纸黑字，我不想在台上给一个更好看但不成立的数字。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演示（1 分 30 秒，现场切换或播放录屏）：0 到 30 秒从对象群列表点「继续圈选」进工作台；30 秒到 1 分 20 秒用一句话描述客群并勾选上下文标签；1 分 20 到 2 分 20 回答两三个口径问题，注意看 Agent 逐条收敛的过程；2 分 20 统计人数，这里 Java 才编译 SQL；3 分钟确认建群；最后 3 分 40 起跑洞察包，看五段卡和图表，导出 SVG。屏幕上这两张是真实运行截图 —— 大家能看到界面自己标注了「合成聚合数据预览」，我们不假装是真实客户数据。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工程化（1 分钟）：我们没有另起一个系统，而是在若依既有的 9 个 Maven 模块上长出第五条能力链，所以业务系统零改造。规模：76 张表，其中语义层 17 张；391 项自动化测试全通过；一条 GitHub Actions 流水线管构建、增量迁移、发布和回滚。下面三个障碍我认为是真实存在的：模型会超时、权限会在线上漂移、小样本有合规风险 —— 每个都给了具体做法，尤其是资格在检索时重算但只收紧不放宽，这一条是整个权限模型的地基。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计划与分工（45 秒）：短期最关键的一件事是完成真实 MySQL 和已认证整链验收 —— 目前所有洞察数字都来自固定合成聚合，这一点必须说清楚。中期是把标签规模从 969 扩到行内实际的 3396，以及把线上反馈自动回灌成评测样本 —— 这一环现在还没自动化。长期是完成银行口径签署，并把这套「事实冻结 → 生成 → 诊断 → 受控变更 → 对照」的方法沉淀成可复用的流程。分工见下，成员姓名我们会在交付前补上。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总结（45 秒）：三个亮点。第一，检索 —— 0.9907 和 0.9936 两个口径我都给，加上两项零违规。第二，洞察技能体系 —— 3 个技能、24 个指标、4 个基准、6 类图表原子，核心是数字只来自事实登记表、统计诊断可重算、小样本整组抑制。第三，数据飞轮 —— 1994 条评测案例，P2 诊断出 8 个根因簇，P3 生成 186 条操作的受控变更包，固定 100 例全通过；但线上反馈的自动回灌这一环还没做。最后这一栏是诚实边界，如果评委问「能落地吗」，我的回答是：架构和工程化已经就位，整链验收和银行签署还没做完。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这一页是备用页，如果时间不够直接跳过。五个问题的回答都指向仓库里的具体出处。特别提醒自己：被问到数据来源时一定要主动说明「600 题封存集由已复核快照构造，不是第三方独立 Gold」，以及「洞察数字来自固定合成聚合，声明 synthetic=true」—— 这两条是我们自己报告里写的限制，主动说比被问出来好。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结束（15 秒）：以上就是 TagPilot。最后一句话，如果评委愿意，可以任给一句中文客户描述，我们现场跑一遍完整链路 —— 从一句话到人数、到客群、到洞察报告。谢谢大家。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pptx-build/assets/hero-dis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2" y="137160"/>
            <a:ext cx="6400800" cy="6400800"/>
          </a:xfrm>
          <a:prstGeom prst="rect">
            <a:avLst/>
          </a:prstGeom>
        </p:spPr>
      </p:pic>
      <p:pic>
        <p:nvPicPr>
          <p:cNvPr id="3" name="Image 1" descr=".pptx-build/assets/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61264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16736" y="51206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</a:t>
            </a:r>
            <a:endParaRPr lang="en-US" sz="1900" dirty="0"/>
          </a:p>
        </p:txBody>
      </p:sp>
      <p:sp>
        <p:nvSpPr>
          <p:cNvPr id="5" name="Text 1"/>
          <p:cNvSpPr/>
          <p:nvPr/>
        </p:nvSpPr>
        <p:spPr>
          <a:xfrm>
            <a:off x="1316736" y="859536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标签智能体 · 客群圈选与洞察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66928" y="188366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智能体挑战赛 · 路演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66928" y="2176272"/>
            <a:ext cx="749808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</a:t>
            </a:r>
            <a:r>
              <a:rPr lang="en-US" sz="5000" b="1" dirty="0">
                <a:solidFill>
                  <a:srgbClr val="E476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Pilot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566928" y="3035808"/>
            <a:ext cx="7863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客群圈选与洞察场景下的标签智能体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566928" y="3584448"/>
            <a:ext cx="74980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让客户经理用一句中文，圈出对的客群，看懂这群人。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66928" y="4224528"/>
            <a:ext cx="3931920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" y="437083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队伍名称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700784" y="437083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“圈”力觉醒</a:t>
            </a: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战队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66928" y="46451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团队成员与分工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700784" y="4645152"/>
            <a:ext cx="58521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业务负责 待填 · 技术负责 待填 · 文档/演示 待填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66928" y="49194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日期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700784" y="491947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4F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2026-09-30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项目概述与业务痛点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一句话说清：为谁、在什么场景、被什么卡住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1057839" cy="1060704"/>
          </a:xfrm>
          <a:prstGeom prst="roundRect">
            <a:avLst>
              <a:gd name="adj" fmla="val 5172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9903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项目一句话概述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627632"/>
            <a:ext cx="10582351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面向银行个人客户经营场景，本项目通过“六通道召回 +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RRF + 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重排”的语义检索、受控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工作流与洞察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Skill，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将自然语言营销需求一键转化为可核验的客群圈选方案与分析洞察，实现从“找标签、圈客群”到“看特征、做分析”的智能闭环——标签 </a:t>
            </a:r>
            <a:r>
              <a:rPr lang="en-US" altLang="zh-CN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Recall@20 </a:t>
            </a:r>
            <a:r>
              <a:rPr lang="zh-CN" altLang="en-US" sz="12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 99.07%，1,200 次测试零幻觉、零越权。</a:t>
            </a:r>
            <a:endParaRPr lang="zh-CN" altLang="en-US" sz="1200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2414016"/>
            <a:ext cx="5428336" cy="2871216"/>
          </a:xfrm>
          <a:prstGeom prst="roundRect">
            <a:avLst>
              <a:gd name="adj" fmla="val 1911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633472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334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2144" y="2633472"/>
            <a:ext cx="462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标签多、口径散，客群圈选高度依赖人工判断</a:t>
            </a:r>
            <a:endParaRPr lang="en-US" sz="125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384" y="30175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痛点描述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786384" y="32004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要在近千个个人客户标签里按目录翻找，还要判断「月日均金融资产」与「AUM」、「上月末」与「近 30 天」是不是同一口径。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35763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当前做法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86384" y="37592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翻标签目录 → 回看字段口径说明 → 选项类再逐个对照码表；口径对齐靠口头沟通，没有留痕。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41351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数据支撑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86384" y="43180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演示基线快照共 969 个上线标签、682 个可发布概念、5,470 条已复核别名、1,723 条码值，底层宽表 970 列。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" y="46939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导致后果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86384" y="48768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口径圈错则客群多圈或漏圈，营销名单不准；口径靠口头对齐，事后无法复核、无法追溯。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6432" y="2414016"/>
            <a:ext cx="5428336" cy="2871216"/>
          </a:xfrm>
          <a:prstGeom prst="roundRect">
            <a:avLst>
              <a:gd name="adj" fmla="val 1911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5888" y="2633472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5888" y="26334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81648" y="2633472"/>
            <a:ext cx="462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圈得出客群，却看不懂客群</a:t>
            </a:r>
            <a:endParaRPr lang="en-US" sz="125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15888" y="30175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痛点描述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415888" y="32004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客群圈定后，只有“筛选规则 + 命中人数”，却回答不了三个关键问题：这群人是谁、有什么特征、值不值得经营。</a:t>
            </a:r>
            <a:endParaRPr 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15888" y="35763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当前做法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415888" y="37592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分析师临时取数 → 手工透视分析 → 凭经验寻找对比基准 → 人工输出结论；流程依赖个人经验，口径与结果难以统一。</a:t>
            </a:r>
            <a:endParaRPr 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15888" y="41351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数据支撑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15888" y="4318000"/>
            <a:ext cx="4989424" cy="348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原标签系统缺少标准化洞察能力、指标口径与基准体系；本次项目新增 3 类洞察 Skill、24 项标准指标、4 类对比基准，将常用分析动作沉淀为可复用能力。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15888" y="4693920"/>
            <a:ext cx="4989424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导致后果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415888" y="4876800"/>
            <a:ext cx="4989424" cy="1833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不可复现、不可对比、不可安全</a:t>
            </a: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发，分析结论存在合规风险。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6928" y="5413248"/>
            <a:ext cx="11057839" cy="676656"/>
          </a:xfrm>
          <a:prstGeom prst="roundRect">
            <a:avLst>
              <a:gd name="adj" fmla="val 6757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5504688"/>
            <a:ext cx="10618927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我们给自己定的红线（写进验收，违反即不合格）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63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不改宽 tl_tag 来存别名或口径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35295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210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权限不写入快照或索引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2727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空资格必须返回空结果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015984" y="5742432"/>
            <a:ext cx="261518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07424" y="5742432"/>
            <a:ext cx="24323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合法 DSL 也不得自动执行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解决方案与目标价值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把“找标签、拼条件、核规则、看客群”，变成一句话完成</a:t>
            </a:r>
            <a:endParaRPr lang="zh-CN" altLang="en-US" sz="2600" b="1" dirty="0">
              <a:solidFill>
                <a:srgbClr val="2A1C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57839" cy="1078992"/>
          </a:xfrm>
          <a:prstGeom prst="roundRect">
            <a:avLst>
              <a:gd name="adj" fmla="val 5085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8074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4672" y="1609344"/>
            <a:ext cx="10582351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dirty="0"/>
              <a:t>客户经理只需用中文描述目标客群，系统自动完成标签查找、条件组合和规则校验，最终生成可核验的客群方案。</a:t>
            </a:r>
            <a:endParaRPr lang="zh-CN" altLang="en-US" sz="1200" dirty="0"/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dirty="0"/>
              <a:t>语义检索负责“找对标签”，受控 </a:t>
            </a:r>
            <a:r>
              <a:rPr lang="en-US" altLang="zh-CN" sz="1200" dirty="0"/>
              <a:t>Agent </a:t>
            </a:r>
            <a:r>
              <a:rPr lang="zh-CN" altLang="en-US" sz="1200" dirty="0"/>
              <a:t>负责“拼对条件”，确定性 </a:t>
            </a:r>
            <a:r>
              <a:rPr lang="en-US" altLang="zh-CN" sz="1200" dirty="0"/>
              <a:t>Guard </a:t>
            </a:r>
            <a:r>
              <a:rPr lang="zh-CN" altLang="en-US" sz="1200" dirty="0"/>
              <a:t>逐项检查来源、数值、时间和冻结条件；确认建群后，还可调用洞察 </a:t>
            </a:r>
            <a:r>
              <a:rPr lang="en-US" altLang="zh-CN" sz="1200" dirty="0"/>
              <a:t>Skill </a:t>
            </a:r>
            <a:r>
              <a:rPr lang="zh-CN" altLang="en-US" sz="1200" dirty="0"/>
              <a:t>分析客群特征。全程不由 </a:t>
            </a:r>
            <a:r>
              <a:rPr lang="en-US" altLang="zh-CN" sz="1200" dirty="0"/>
              <a:t>Agent </a:t>
            </a:r>
            <a:r>
              <a:rPr lang="zh-CN" altLang="en-US" sz="1200" dirty="0"/>
              <a:t>直接生成 </a:t>
            </a:r>
            <a:r>
              <a:rPr lang="en-US" altLang="zh-CN" sz="1200" dirty="0"/>
              <a:t>SQL、</a:t>
            </a:r>
            <a:r>
              <a:rPr lang="zh-CN" altLang="en-US" sz="1200" dirty="0"/>
              <a:t>不查询客户明细、不自动执行，关键动作均需人工确认。</a:t>
            </a:r>
            <a:endParaRPr lang="zh-CN" alt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523744"/>
            <a:ext cx="355183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633472"/>
            <a:ext cx="3149498" cy="49377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zh-CN" sz="30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99.07%</a:t>
            </a:r>
            <a:endParaRPr lang="en-US" altLang="zh-CN" sz="3000" b="1" dirty="0">
              <a:solidFill>
                <a:srgbClr val="E4761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3127248"/>
            <a:ext cx="314949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标签召回率 </a:t>
            </a:r>
            <a:r>
              <a:rPr lang="en-US" altLang="zh-CN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Recall@20</a:t>
            </a:r>
            <a:endParaRPr lang="en-US" altLang="zh-CN" sz="950" b="1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096" y="3364992"/>
            <a:ext cx="314949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输入一句业务描述，目标标签基本都能进入前 20 个候选。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测试覆盖 1,296 个案例、1,880 个原子条件。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19930" y="2523744"/>
            <a:ext cx="355183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1098" y="2633472"/>
            <a:ext cx="3149498" cy="49377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zh-CN" sz="30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altLang="zh-CN" sz="3000" b="1" dirty="0">
              <a:solidFill>
                <a:srgbClr val="C25A0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21098" y="3127248"/>
            <a:ext cx="314949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端到端一次通过率</a:t>
            </a:r>
            <a:endParaRPr lang="zh-CN" altLang="en-US" sz="950" b="1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21098" y="3364992"/>
            <a:ext cx="314949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条完整客群需求中，398 条无需人工修正即可通过判定。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按完整方案严格评测，而不是只判断最终人数是否一致。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72933" y="2523744"/>
            <a:ext cx="355183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74101" y="2633472"/>
            <a:ext cx="3149498" cy="49377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altLang="zh-CN" sz="3000" b="1" dirty="0">
                <a:solidFill>
                  <a:srgbClr val="A87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1200</a:t>
            </a:r>
            <a:endParaRPr lang="en-US" altLang="zh-CN" sz="3000" b="1" dirty="0">
              <a:solidFill>
                <a:srgbClr val="A87A1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4101" y="3127248"/>
            <a:ext cx="314949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95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标签幻觉与越权引用</a:t>
            </a:r>
            <a:endParaRPr lang="zh-CN" altLang="en-US" sz="950" b="1" dirty="0">
              <a:solidFill>
                <a:srgbClr val="96897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74101" y="3364992"/>
            <a:ext cx="3149498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1200 次标签引用测试中：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260"/>
              </a:lnSpc>
              <a:buNone/>
            </a:pPr>
            <a:r>
              <a:rPr lang="zh-CN" altLang="en-US" sz="92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幻觉标签 0 次｜越权标签 0 次</a:t>
            </a:r>
            <a:endParaRPr lang="zh-CN" altLang="en-US" sz="92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928" y="416966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落地场景：谁、在哪个环节用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443984"/>
            <a:ext cx="11057839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572000"/>
            <a:ext cx="355183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客户经理｜营销客群圈选</a:t>
            </a:r>
            <a:endParaRPr lang="zh-CN" altLang="en-US" sz="120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4828032"/>
            <a:ext cx="35518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营销策划环节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67055" y="5047615"/>
            <a:ext cx="338709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一句话描述目标客户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系统自动找标签、拼条件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对关键歧义进行确认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查看预估人数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确认建群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19930" y="4572000"/>
            <a:ext cx="355183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标签管理员｜标签治理</a:t>
            </a:r>
            <a:endParaRPr lang="zh-CN" altLang="en-US" sz="120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19930" y="4828032"/>
            <a:ext cx="35518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语义层治理环节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319905" y="5047615"/>
            <a:ext cx="3387090" cy="9340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维护概念、别名、码值和业务口径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系统发布前自动检查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通过后进入统一语义层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新标签即可被 </a:t>
            </a:r>
            <a:r>
              <a:rPr lang="en-US" altLang="zh-CN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检索和使用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72933" y="4572000"/>
            <a:ext cx="355183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数据分析师｜客群洞察</a:t>
            </a:r>
            <a:endParaRPr lang="zh-CN" altLang="en-US" sz="1200" b="1" dirty="0">
              <a:solidFill>
                <a:srgbClr val="C25A0E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72933" y="4828032"/>
            <a:ext cx="35518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客群洞察环节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072755" y="5047615"/>
            <a:ext cx="3387090" cy="1078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</a:t>
            </a: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选择已圈定客群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调用标准化洞察 </a:t>
            </a:r>
            <a:r>
              <a:rPr lang="en-US" altLang="zh-CN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</a:t>
            </a:r>
            <a:endParaRPr lang="en-US" altLang="zh-CN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自动生成特征分布、对比基准和图表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小样本抑制与口径校验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zh-CN" altLang="en-US" sz="10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输出可复核分析结果</a:t>
            </a:r>
            <a:endParaRPr lang="zh-CN" altLang="en-US" sz="1000" dirty="0">
              <a:solidFill>
                <a:srgbClr val="5B4F43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技术架构图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→ 处理（控制面 + 三条能力链）→ 底座 → 输出</a:t>
            </a:r>
            <a:endParaRPr lang="en-US" sz="2600" dirty="0"/>
          </a:p>
        </p:txBody>
      </p:sp>
      <p:pic>
        <p:nvPicPr>
          <p:cNvPr id="4" name="Image 0" descr=".pptx-build/assets/arc-corn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2855" y="-274320"/>
            <a:ext cx="2148840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243584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" y="13350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55648" y="131673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客户经理的自然语言需求  +  标签上下文选择（每轮 ≤ 5 项）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93408" y="1316736"/>
            <a:ext cx="4711903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智能体工作台：React 19 + assistant-ui，嵌入若依 /agent 路由（iframe + SSE 增量事件）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72768" y="1810512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66928" y="1993392"/>
            <a:ext cx="11057839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0D3C2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" y="208483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86384" y="2340864"/>
            <a:ext cx="2545004" cy="1536192"/>
          </a:xfrm>
          <a:prstGeom prst="roundRect">
            <a:avLst>
              <a:gd name="adj" fmla="val 2976"/>
            </a:avLst>
          </a:prstGeom>
          <a:solidFill>
            <a:srgbClr val="FBF3D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450592"/>
            <a:ext cx="225239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控制面 · Java 权威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2679192"/>
            <a:ext cx="22523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2.5.15 / JDK 8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932688" y="2907792"/>
            <a:ext cx="2252396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2980944"/>
            <a:ext cx="225239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 · 当前资格 · 发布版本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方案编译 · 人数统计 · 建群权限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资格在检索时重算，只收紧不放宽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3477692" y="2340864"/>
            <a:ext cx="2545004" cy="1536192"/>
          </a:xfrm>
          <a:prstGeom prst="roundRect">
            <a:avLst>
              <a:gd name="adj" fmla="val 2976"/>
            </a:avLst>
          </a:prstGeom>
          <a:solidFill>
            <a:srgbClr val="FCEEE0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23996" y="2450592"/>
            <a:ext cx="225239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</a:t>
            </a: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23996" y="2679192"/>
            <a:ext cx="22523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tagpilot-semantic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3623996" y="2907792"/>
            <a:ext cx="2252396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23996" y="2980944"/>
            <a:ext cx="225239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六通道召回：别名 / BM25-名称 /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BM25-正文 / 稠密向量 / 族 / 码值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RRF(k=60) → BGE 重排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169000" y="2340864"/>
            <a:ext cx="2545004" cy="1536192"/>
          </a:xfrm>
          <a:prstGeom prst="roundRect">
            <a:avLst>
              <a:gd name="adj" fmla="val 2976"/>
            </a:avLst>
          </a:prstGeom>
          <a:solidFill>
            <a:srgbClr val="FCEEE0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15304" y="2450592"/>
            <a:ext cx="225239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编排层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15304" y="2679192"/>
            <a:ext cx="22523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tagpilot-agent 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6315304" y="2907792"/>
            <a:ext cx="2252396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15304" y="2980944"/>
            <a:ext cx="225239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Agent SDK 单循环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五个领域工具 + 纯 Python Guard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预算分级：软 40s / 硬 90s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8860307" y="2340864"/>
            <a:ext cx="2545004" cy="1536192"/>
          </a:xfrm>
          <a:prstGeom prst="roundRect">
            <a:avLst>
              <a:gd name="adj" fmla="val 2976"/>
            </a:avLst>
          </a:prstGeom>
          <a:solidFill>
            <a:srgbClr val="FBF3D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06611" y="2450592"/>
            <a:ext cx="225239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006611" y="2679192"/>
            <a:ext cx="22523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tagpilot-insight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9006611" y="2907792"/>
            <a:ext cx="2252396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611" y="2980944"/>
            <a:ext cx="2252396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个技能 / 24 个指标定义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个基准 / 6 类图表原子</a:t>
            </a:r>
            <a:endParaRPr lang="en-US" sz="860" dirty="0"/>
          </a:p>
          <a:p>
            <a:pPr marL="0" indent="0" algn="l">
              <a:lnSpc>
                <a:spcPts val="13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只收聚合信封，不收客户明细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3331388" y="3108960"/>
            <a:ext cx="14630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022696" y="3108960"/>
            <a:ext cx="14630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714003" y="3108960"/>
            <a:ext cx="14630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572768" y="4023360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66928" y="4224528"/>
            <a:ext cx="11057839" cy="603504"/>
          </a:xfrm>
          <a:prstGeom prst="roundRect">
            <a:avLst>
              <a:gd name="adj" fmla="val 7576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" y="4315968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数据与模型底座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267712" y="4315968"/>
            <a:ext cx="9137599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8（76 张表 · ts_* 17 张）  ·  Milvus 19530（BGE-M3，1024 维，3374 文档）  ·  Redis（Token / 限流）  ·  加密 SQLite（运行库）</a:t>
            </a:r>
            <a:endParaRPr lang="en-US" sz="940" dirty="0"/>
          </a:p>
        </p:txBody>
      </p:sp>
      <p:sp>
        <p:nvSpPr>
          <p:cNvPr id="39" name="Shape 36"/>
          <p:cNvSpPr/>
          <p:nvPr/>
        </p:nvSpPr>
        <p:spPr>
          <a:xfrm>
            <a:off x="1572768" y="4846320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566928" y="5047488"/>
            <a:ext cx="11057839" cy="640080"/>
          </a:xfrm>
          <a:prstGeom prst="roundRect">
            <a:avLst>
              <a:gd name="adj" fmla="val 8571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86384" y="51480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输出层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755648" y="512064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客群方案（条件树 + 人数，可建群）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413248" y="512064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洞察报告（五段卡 + KPI / 柱 / 堆叠 / 热力 / 漏斗）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070848" y="5120640"/>
            <a:ext cx="2334463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闸门：auto_execute=false</a:t>
            </a:r>
            <a:endParaRPr lang="en-US" sz="880" dirty="0"/>
          </a:p>
        </p:txBody>
      </p:sp>
      <p:sp>
        <p:nvSpPr>
          <p:cNvPr id="45" name="Text 42"/>
          <p:cNvSpPr/>
          <p:nvPr/>
        </p:nvSpPr>
        <p:spPr>
          <a:xfrm>
            <a:off x="566928" y="577900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技术选型说明：Java 继续拥有身份、资格、发布版本、编译、统计与建群六项权威，因此业务系统零改造即可接入；Python 只消费不可变快照 + Java 算好的资格集合，浏览器从不直连 Python —— 这样「谁有权看什么」永远只有一个答案。</a:t>
            </a:r>
            <a:endParaRPr lang="en-US" sz="940" dirty="0"/>
          </a:p>
        </p:txBody>
      </p:sp>
      <p:sp>
        <p:nvSpPr>
          <p:cNvPr id="46" name="Text 43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核心流程图 / DAG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五个节点的受控工作流，三条分支都有明确出口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700430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36192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361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" y="13898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需求进入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33856" y="1627632"/>
            <a:ext cx="490118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注入 owner / 线程 / 发布版本 / 资格 → 生成不可变运行记录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133856" y="1792224"/>
            <a:ext cx="623620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出：运行上下文（资格只收紧，不放宽）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870448" y="1408176"/>
            <a:ext cx="15361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7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 /agent/v2/runs，同 ID + 同原文幂等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86968" y="2048256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6928" y="2249424"/>
            <a:ext cx="700430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468880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688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33856" y="2322576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检索取证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3856" y="2560320"/>
            <a:ext cx="490118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find_tags / get_tag_details / find_capabilities 三个工具取证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133856" y="2724912"/>
            <a:ext cx="623620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出：资格内候选标签 + 口径、单位、码值证据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5870448" y="2340864"/>
            <a:ext cx="15361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7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六通道召回 → RRF → 资格过滤，空资格返回空结果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86968" y="2980944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3182112"/>
            <a:ext cx="700430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401568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4015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3856" y="325526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方案成型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490118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把需求编排成条件树，check_plan 自查并返回可修复诊断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133856" y="3657600"/>
            <a:ext cx="623620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出：条件树 + 逐条需求覆盖映射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870448" y="3273552"/>
            <a:ext cx="15361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7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结构化输出，深度 ≤ 8、AND/OR 组 1–30 项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86968" y="3913632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6928" y="4114800"/>
            <a:ext cx="700430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334256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3342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3856" y="4187952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Guard 确定性校验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33856" y="4425696"/>
            <a:ext cx="490118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逐条核验来源 / 数值 / 时间 / 冻结条件 / 需求覆盖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133856" y="4590288"/>
            <a:ext cx="623620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出：READY 或 DRAFT + 诊断码清单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870448" y="4206240"/>
            <a:ext cx="15361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7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 Python，不依赖 SDK；手工编辑也走同一 Guard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886968" y="4846320"/>
            <a:ext cx="0" cy="182880"/>
          </a:xfrm>
          <a:prstGeom prst="line">
            <a:avLst/>
          </a:prstGeom>
          <a:noFill/>
          <a:ln w="1905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66928" y="5047488"/>
            <a:ext cx="7004304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5266944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2669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33856" y="5120640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人工确认 → 统计 → 建群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33856" y="5358384"/>
            <a:ext cx="4901184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用户确认方案 → Java 编译为规则 SQL → 统计人数 → 写入客群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1133856" y="5522976"/>
            <a:ext cx="6236208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出：可核验客群 + 洞察报告入口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5870448" y="5138928"/>
            <a:ext cx="15361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20"/>
              </a:lnSpc>
              <a:buNone/>
            </a:pPr>
            <a:r>
              <a:rPr lang="en-US" sz="78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objectgroup:group:run / :add 权限校验，thread/revision 幂等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900416" y="1298448"/>
            <a:ext cx="3724351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条件分支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00416" y="1572768"/>
            <a:ext cx="3724351" cy="1298448"/>
          </a:xfrm>
          <a:prstGeom prst="roundRect">
            <a:avLst>
              <a:gd name="adj" fmla="val 3521"/>
            </a:avLst>
          </a:prstGeom>
          <a:solidFill>
            <a:srgbClr val="FCEEE0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1682496"/>
            <a:ext cx="3395167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NEEDS_USER_INPUT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065008" y="1920240"/>
            <a:ext cx="3395167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需求不足需澄清：每轮最多 3 题，跨运行保存最近 20 组问答。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8065008" y="2377440"/>
            <a:ext cx="3395167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4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出口：resume 补全后回到节点 2；问题已核验过的所选标签详情直接复用，不重复检索。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7571232" y="2221992"/>
            <a:ext cx="274320" cy="0"/>
          </a:xfrm>
          <a:prstGeom prst="line">
            <a:avLst/>
          </a:prstGeom>
          <a:noFill/>
          <a:ln w="15240">
            <a:solidFill>
              <a:srgbClr val="E0D3C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7900416" y="3017520"/>
            <a:ext cx="3724351" cy="1298448"/>
          </a:xfrm>
          <a:prstGeom prst="roundRect">
            <a:avLst>
              <a:gd name="adj" fmla="val 3521"/>
            </a:avLst>
          </a:prstGeom>
          <a:solidFill>
            <a:srgbClr val="FBF3D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65008" y="3127248"/>
            <a:ext cx="3395167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CAPABILITY_GAP / PARTIAL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8065008" y="3364992"/>
            <a:ext cx="3395167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能力缺失或部分完成：给出最近候选标签（≤10）与缺口原因。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8065008" y="3822192"/>
            <a:ext cx="3395167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4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出口：明确告知缺口，绝不宣称「没有已发布标签」；不产出生效条件。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7571232" y="3666744"/>
            <a:ext cx="274320" cy="0"/>
          </a:xfrm>
          <a:prstGeom prst="line">
            <a:avLst/>
          </a:prstGeom>
          <a:noFill/>
          <a:ln w="15240">
            <a:solidFill>
              <a:srgbClr val="E0D3C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900416" y="4462272"/>
            <a:ext cx="3724351" cy="1298448"/>
          </a:xfrm>
          <a:prstGeom prst="roundRect">
            <a:avLst>
              <a:gd name="adj" fmla="val 3521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65008" y="4572000"/>
            <a:ext cx="3395167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预算收敛 → 降级 L2 / L3 / L4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8065008" y="4809744"/>
            <a:ext cx="3395167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软预算 40s / 硬预算 90s；收敛期关闭 deep 与新详情，只允许 quick 与提交。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8065008" y="5266944"/>
            <a:ext cx="3395167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4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保留可核验条件；L3 仅有候选建议；L4 模型 / 检索故障可重试。三者都不能统计或建群。</a:t>
            </a:r>
            <a:endParaRPr lang="en-US" sz="840" dirty="0"/>
          </a:p>
        </p:txBody>
      </p:sp>
      <p:sp>
        <p:nvSpPr>
          <p:cNvPr id="58" name="Shape 56"/>
          <p:cNvSpPr/>
          <p:nvPr/>
        </p:nvSpPr>
        <p:spPr>
          <a:xfrm>
            <a:off x="7571232" y="5111496"/>
            <a:ext cx="274320" cy="0"/>
          </a:xfrm>
          <a:prstGeom prst="line">
            <a:avLst/>
          </a:prstGeom>
          <a:noFill/>
          <a:ln w="15240">
            <a:solidFill>
              <a:srgbClr val="E0D3C2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来源：tagpilot-agent/README.md（工具集、预算与 L2/L3/L4 降级）；tagpilot_agent/guards/plan_validator.py（校验维度）。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核心模块详解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三个模块，三个真实技术难点与解法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3564026" cy="4517136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408176"/>
            <a:ext cx="3198266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A. 语义检索层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19826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tagpilot-semantic  :8091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3198266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29968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做什么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49808" y="2203704"/>
            <a:ext cx="319826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把中文口径翻译成「资格内」的候选标签，并带上口径、单位、码值证据。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用什么技术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49808" y="2990088"/>
            <a:ext cx="319826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+ BGE-M3（1024 维）+ jieba + pyahocorasick；本地索引或 Milvus，禁止自动降级。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749808" y="3675888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关键实现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49808" y="3849624"/>
            <a:ext cx="319826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六通道召回：别名 AC 自动机 / BM25-名称 / BM25-正文 / 稠密向量 / 族解析 / 码值命中，RRF(k=60) 融合后重排。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4361688"/>
            <a:ext cx="319826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标量过滤贯穿所有通道：资格集合为空时直接返回空，绝不省略过滤条件。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" y="4882896"/>
            <a:ext cx="3198266" cy="1060704"/>
          </a:xfrm>
          <a:prstGeom prst="roundRect">
            <a:avLst>
              <a:gd name="adj" fmla="val 4310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974336"/>
            <a:ext cx="29422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难点：口径不能近似。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877824" y="5193792"/>
            <a:ext cx="294223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解法：跨桶阈值只在整个桶并集严格等于请求区间时才可表达，否则返回 INEXPRESSIBLE ——「超过 100 万」不允许近似成「100 万及以上」。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13834" y="1261872"/>
            <a:ext cx="3564026" cy="4517136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96714" y="1408176"/>
            <a:ext cx="3198266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B. Agent 编排层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6714" y="1682496"/>
            <a:ext cx="319826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tagpilot-agent  :8092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496714" y="1920240"/>
            <a:ext cx="3198266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6714" y="2029968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做什么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496714" y="2203704"/>
            <a:ext cx="319826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 Agent 循环把候选编排成条件树，提交前由确定性 Guard 逐条核验。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4496714" y="2816352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用什么技术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4496714" y="2990088"/>
            <a:ext cx="319826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Agent SDK（claude-agent-sdk 0.1.50）经 Anthropic 协议调用模型；五个领域工具组成唯一 MCP 集合。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496714" y="3675888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关键实现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496714" y="3849624"/>
            <a:ext cx="319826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工具：find_tags / get_tag_details / find_capabilities / check_plan / submit_result。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6714" y="4361688"/>
            <a:ext cx="319826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禁用内置工具、外部 MCP、会话持久化；submit_result 接受后立即中断，不等模型收尾。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96714" y="4882896"/>
            <a:ext cx="3198266" cy="1060704"/>
          </a:xfrm>
          <a:prstGeom prst="roundRect">
            <a:avLst>
              <a:gd name="adj" fmla="val 4310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4730" y="4974336"/>
            <a:ext cx="29422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难点：模型会「编」，但权限与口径不能编。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4624730" y="5193792"/>
            <a:ext cx="294223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解法：Guard 与 SDK 完全解耦 —— 工具调用、终态提交、手工编辑三条路径共用同一套校验；已冻结条件不可被续跑改动。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60741" y="1261872"/>
            <a:ext cx="3564026" cy="4517136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43621" y="1408176"/>
            <a:ext cx="3198266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C. 洞察 Skill 体系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43621" y="1682496"/>
            <a:ext cx="319826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tagpilot-insight（Python 库）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8243621" y="1920240"/>
            <a:ext cx="3198266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3621" y="2029968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做什么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8243621" y="2203704"/>
            <a:ext cx="3198266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把「看客群」变成一组版本化、可复核的技能包，输出五段洞察卡与图表。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8243621" y="2816352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用什么技术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8243621" y="2990088"/>
            <a:ext cx="319826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内容即代码：YAML Manifest + fixtures，代码包整体 hash；24 个指标定义 / 4 个基准 / 6 类图表原子 / 3 个技能。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8243621" y="3675888"/>
            <a:ext cx="319826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关键实现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8243621" y="3849624"/>
            <a:ext cx="319826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四类白名单查询节点（聚合 / 分档 / 占比 / 评分），Java 只执行白名单 SQL，Python 不生成任意 SQL。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43621" y="4361688"/>
            <a:ext cx="319826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选图是确定性的：数据画像不满足（类别 &gt; 12 或单位不统一）直接拒绝，且「选图不能改数据」。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43621" y="4882896"/>
            <a:ext cx="3198266" cy="1060704"/>
          </a:xfrm>
          <a:prstGeom prst="roundRect">
            <a:avLst>
              <a:gd name="adj" fmla="val 4310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71637" y="4974336"/>
            <a:ext cx="2942234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难点：结论必须可复核，且不能泄露个体。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8371637" y="5193792"/>
            <a:ext cx="2942234" cy="694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解法：数字只来自事实登记表；STAT 诊断的 Wilson 区间由 Guard 独立重算（误差 0.01 内）；任一格 &lt; 20 人整组抑制。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来源：tagpilot-semantic/README.md；tagpilot_agent/tools/registry.py 与 guards/；tagpilot-insight/tagpilot_insight/registry.py、guards.py；docs/development/洞察Skill体系实施记录.md。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· 可控生成机制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五道控制，把「模型输出」变成「可复核结论」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6967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0817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25296" y="1389888"/>
            <a:ext cx="0" cy="658368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371600"/>
            <a:ext cx="5980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取证：条件必须绑定证据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1609344"/>
            <a:ext cx="598017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每个条件都要绑定本轮检索到的证据；命名绑定单独校验。假设类解释必须指向已发布证据，否则报「业务解释缺少已发布证据」。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6967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41401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25296" y="2395728"/>
            <a:ext cx="0" cy="658368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377440"/>
            <a:ext cx="5980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结构化输出：不是自然语言，是条件树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2615184"/>
            <a:ext cx="598017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输出为结构化条件树：深度 ≤ 8、AND/OR 组 1–30 项、条件数 1–30、clause_id 唯一；不合法直接 SCHEMA_INVALID。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3273552"/>
            <a:ext cx="6967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41985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25296" y="3401568"/>
            <a:ext cx="0" cy="658368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383280"/>
            <a:ext cx="5980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规则校验：五维确定性 Guard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3621024"/>
            <a:ext cx="598017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 / 数值 / 时间 / 冻结条件 / 需求覆盖。数值必须有限且单位一致；跨期比较需显式声明，否则 CALIBER_CONFLICT；需求逐条映射到叶子节点，否则 REQUIREMENT_MISSING。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4279392"/>
            <a:ext cx="6967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42569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25296" y="4407408"/>
            <a:ext cx="0" cy="658368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389120"/>
            <a:ext cx="5980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权限与资格：检索时重算，只收紧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71600" y="4626864"/>
            <a:ext cx="598017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资格在每次检索时重算（上线状态、字段在线、快照已发布、basis_hash 一致）；资格集合为空必须返回空结果；权限永不写入快照或索引。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5285232"/>
            <a:ext cx="69677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431536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25296" y="5413248"/>
            <a:ext cx="0" cy="658368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5394960"/>
            <a:ext cx="5980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执行红线：auto_execute 硬编码为 false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71600" y="5632704"/>
            <a:ext cx="598017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语义层 /retrieve 与 /lookup 的响应里 auto_execute 恒为 false；合法 DSL 也只是待确认候选，真正执行 SQL 的只有 Java 对象群模块。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8976" y="1261872"/>
            <a:ext cx="3815791" cy="4846320"/>
          </a:xfrm>
          <a:prstGeom prst="roundRect">
            <a:avLst>
              <a:gd name="adj" fmla="val 1438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10144" y="1408176"/>
            <a:ext cx="3413455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控制手段实施后的实测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10144" y="1700784"/>
            <a:ext cx="3413455" cy="0"/>
          </a:xfrm>
          <a:prstGeom prst="line">
            <a:avLst/>
          </a:prstGeom>
          <a:noFill/>
          <a:ln w="12700">
            <a:solidFill>
              <a:srgbClr val="F0D6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1828800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010144" y="2084832"/>
            <a:ext cx="341345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幻觉标签引用（600 题封存集）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8010144" y="2542032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10144" y="2798064"/>
            <a:ext cx="341345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越权或未发布标签引用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010144" y="3255264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600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10144" y="3511296"/>
            <a:ext cx="341345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错误自动执行（合法 DSL 也不执行）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8010144" y="3968496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10144" y="4224528"/>
            <a:ext cx="341345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未达标题中，草案与标准树语义完全一致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010144" y="4681728"/>
            <a:ext cx="3413455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2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010144" y="4937760"/>
            <a:ext cx="341345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 诊断 Wilson 区间重算容差（pp）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010144" y="5431536"/>
            <a:ext cx="3413455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4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读法：第三项说明当前失败主要来自预算收敛，而不是语义绑定错误 —— 该结论只对本批题与 max_turns=10、budget=1 USD 成立。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来源：tagpilot_agent/guards/（五维校验与冻结条件）；tag_semantic/server.py（auto_execute 硬编码）；docs/validation/语义索引层建设验收记录.md（零违规计数）。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· 效果验证与测试数据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五个用例覆盖正常 / 边界 / 异常 / 澄清，配一份可复核的 A/B 对照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测试用例（覆盖正常、边界、异常、澄清四类）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66928" y="1408176"/>
          <a:ext cx="11057839" cy="1920240"/>
        </p:xfrm>
        <a:graphic>
          <a:graphicData uri="http://schemas.openxmlformats.org/drawingml/2006/table">
            <a:tbl>
              <a:tblPr/>
              <a:tblGrid>
                <a:gridCol w="1051560"/>
                <a:gridCol w="3017520"/>
                <a:gridCol w="5705856"/>
                <a:gridCol w="1280160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预期 → 实际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正常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「上月借记卡消费金额至少 0」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命中标签 1175「上月借记卡消费金额」，方案合法并标记为待人工确认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边界 · 口径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有序分档跨桶，如「超过 100 万」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桶并集不严格等于请求区间 → 返回 INEXPRESSIBLE，拒绝近似为「100 万及以上」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异常 · 越权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引用资格外或未发布的标签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INELIGIBLE_TAG / UNKNOWN_TAG，条件被拒绝，不进入方案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澄清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「高净值客户」（未给阈值）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NEEDS_USER_INPUT，诊断 THRESHOLD_MISSING，每轮最多 3 问，回答后 resume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边界 · 码值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负向条件命中「未知」码值桶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必须显式声明 unknown_policy；!= 含未知码值时要求改写为「不属于」集合条件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401568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量化效果对比：口径修订前后的受控 A/B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566928" y="3639312"/>
          <a:ext cx="6053328" cy="1335024"/>
        </p:xfrm>
        <a:graphic>
          <a:graphicData uri="http://schemas.openxmlformats.org/drawingml/2006/table">
            <a:tbl>
              <a:tblPr/>
              <a:tblGrid>
                <a:gridCol w="603504"/>
                <a:gridCol w="2066544"/>
                <a:gridCol w="2103120"/>
                <a:gridCol w="1280160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语义 / 配置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召回原子条件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2A1C0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全条件覆盖</a:t>
                      </a:r>
                      <a:endParaRPr lang="en-US" sz="94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原语义 + 原配置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1,868 / 1,880（99.36%）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1,284 / 1,296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首轮新语义 + 原配置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1,868 / 1,880（99.36%）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1,284 / 1,296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原语义 + NFKC 配置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1,880 / 1,880（100%）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1,296 / 1,296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选定语义 + 配置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1,880 / 1,880（100%）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5B4F4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1,296 / 1,296</a:t>
                      </a:r>
                      <a:endParaRPr lang="en-US" sz="88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39712" y="3401568"/>
            <a:ext cx="4785055" cy="1554480"/>
          </a:xfrm>
          <a:prstGeom prst="roundRect">
            <a:avLst>
              <a:gd name="adj" fmla="val 3529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5"/>
          <p:cNvSpPr/>
          <p:nvPr/>
        </p:nvSpPr>
        <p:spPr>
          <a:xfrm>
            <a:off x="7040880" y="3511296"/>
            <a:ext cx="4382719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与基线方案的对比结论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040880" y="3712464"/>
            <a:ext cx="4382719" cy="242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纯数据改动（A → B）的 L1 净收益为 0：换语义不涨召回。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7040880" y="3954780"/>
            <a:ext cx="4382719" cy="242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12 个召回缺失全部由 NFKC 配置修复（A→C、B→D 各恢复 12 个条件）。</a:t>
            </a:r>
            <a:endParaRPr lang="en-US" sz="840" dirty="0"/>
          </a:p>
        </p:txBody>
      </p:sp>
      <p:sp>
        <p:nvSpPr>
          <p:cNvPr id="12" name="Text 8"/>
          <p:cNvSpPr/>
          <p:nvPr/>
        </p:nvSpPr>
        <p:spPr>
          <a:xfrm>
            <a:off x="7040880" y="4197096"/>
            <a:ext cx="4382719" cy="242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15 例固定回归：A = 14/15 → G = 15/15；p95 时延 81.24s → 18.29s。</a:t>
            </a:r>
            <a:endParaRPr lang="en-US" sz="840" dirty="0"/>
          </a:p>
        </p:txBody>
      </p:sp>
      <p:sp>
        <p:nvSpPr>
          <p:cNvPr id="13" name="Text 9"/>
          <p:cNvSpPr/>
          <p:nvPr/>
        </p:nvSpPr>
        <p:spPr>
          <a:xfrm>
            <a:off x="7040880" y="4439412"/>
            <a:ext cx="4382719" cy="242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HOLDOUT 单独检查：200/200 召回、128/128 全覆盖。</a:t>
            </a:r>
            <a:endParaRPr lang="en-US" sz="840" dirty="0"/>
          </a:p>
        </p:txBody>
      </p:sp>
      <p:sp>
        <p:nvSpPr>
          <p:cNvPr id="14" name="Text 10"/>
          <p:cNvSpPr/>
          <p:nvPr/>
        </p:nvSpPr>
        <p:spPr>
          <a:xfrm>
            <a:off x="7040880" y="4681728"/>
            <a:ext cx="4382719" cy="242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报告自我限制：L1 为 fast/no-rerank@20，不代表 deep@10 的留出正确率。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566928" y="5102352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8096" y="5193792"/>
            <a:ext cx="10655503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口径与边界（必须与本页数字一起读）</a:t>
            </a:r>
            <a:endParaRPr lang="en-US" sz="900" dirty="0"/>
          </a:p>
        </p:txBody>
      </p:sp>
      <p:sp>
        <p:nvSpPr>
          <p:cNvPr id="7" name="Text 13"/>
          <p:cNvSpPr/>
          <p:nvPr/>
        </p:nvSpPr>
        <p:spPr>
          <a:xfrm>
            <a:off x="768096" y="5394960"/>
            <a:ext cx="1065550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人工作业基线未做对照测量，故不给「人工 vs AI」的时间或准确率提升百分比。② L2 为分层抽样（P2 抽 500 / 1,994），不是全量。③ 稳定性复跑 NOT_MEASURED（计划 100 例 × 3 次 = 300，实际执行 42 次），因此本页不给稳定性近似值。④ L3 Java 执行本轮 NOT_APPLICABLE，不计入通过分母。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来源：tagpilot-eval/reports/p3-acceptance-v1/（A/B/C/D 对照与 HOLDOUT）；reports/p2-acceptance-v1/REPORT.md（L2 抽样）。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· Demo 演示 / 效果展示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分钟走完：启动 → 输入 → 处理 → 输出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演示剧本（5 分钟，含时间轴）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1751533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463040"/>
            <a:ext cx="149550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" y="1691640"/>
            <a:ext cx="1495501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30″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694944" y="1883664"/>
            <a:ext cx="1495501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启动工作台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121408"/>
            <a:ext cx="1495501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从对象群列表点「继续圈选」进入若依 /agent，选标签库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23033" y="1956816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8189" y="1408176"/>
            <a:ext cx="1751533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56205" y="1463040"/>
            <a:ext cx="149550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56205" y="1691640"/>
            <a:ext cx="1495501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50″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2556205" y="1883664"/>
            <a:ext cx="1495501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一句话输入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56205" y="2121408"/>
            <a:ext cx="1495501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描述目标客群 + 勾选 ≤5 个上下文标签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84294" y="1956816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89450" y="1408176"/>
            <a:ext cx="1751533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17466" y="1463040"/>
            <a:ext cx="149550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1:20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17466" y="1691640"/>
            <a:ext cx="1495501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60″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417466" y="1883664"/>
            <a:ext cx="1495501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澄清处理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17466" y="2121408"/>
            <a:ext cx="1495501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 2–3 个口径问题，看 Agent 逐条收敛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45556" y="1956816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50712" y="1408176"/>
            <a:ext cx="1751533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8728" y="1463040"/>
            <a:ext cx="149550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2:20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8728" y="1691640"/>
            <a:ext cx="1495501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40″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6278728" y="1883664"/>
            <a:ext cx="1495501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人数统计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8728" y="2121408"/>
            <a:ext cx="1495501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方案确认后 Java 编译规则 SQL，出人数与版本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06817" y="1956816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11973" y="1408176"/>
            <a:ext cx="1751533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9989" y="1463040"/>
            <a:ext cx="149550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9989" y="1691640"/>
            <a:ext cx="1495501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40″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8139989" y="1883664"/>
            <a:ext cx="1495501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确认建群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9989" y="2121408"/>
            <a:ext cx="1495501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写回对象群列表，可在列表页继续编辑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768078" y="1956816"/>
            <a:ext cx="100584" cy="0"/>
          </a:xfrm>
          <a:prstGeom prst="line">
            <a:avLst/>
          </a:prstGeom>
          <a:noFill/>
          <a:ln w="15240">
            <a:solidFill>
              <a:srgbClr val="E4761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873234" y="1408176"/>
            <a:ext cx="1751533" cy="1115568"/>
          </a:xfrm>
          <a:prstGeom prst="roundRect">
            <a:avLst>
              <a:gd name="adj" fmla="val 4918"/>
            </a:avLst>
          </a:prstGeom>
          <a:solidFill>
            <a:srgbClr val="FCEEE0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01250" y="1463040"/>
            <a:ext cx="149550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3:40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01250" y="1691640"/>
            <a:ext cx="1495501" cy="173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 80″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0001250" y="1883664"/>
            <a:ext cx="1495501" cy="210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01250" y="2121408"/>
            <a:ext cx="1495501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 3 个已发布技能 → 五段卡 + 图表 → 导出 SVG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" y="2615184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真实运行截图（本地演示基线，界面自身标注为「合成聚合数据预览」）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2798064"/>
            <a:ext cx="5437480" cy="287121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pic>
        <p:nvPicPr>
          <p:cNvPr id="42" name="Image 0" descr=".pptx-build/assets/shot-workben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862072"/>
            <a:ext cx="5309464" cy="230428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94944" y="5230368"/>
            <a:ext cx="518144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圈选工作台：左侧自然语言对话，右侧「圈选方案 / 洞察」双栏；顶部实时状态显示「条件已核验」。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6187288" y="2798064"/>
            <a:ext cx="5437480" cy="287121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pic>
        <p:nvPicPr>
          <p:cNvPr id="45" name="Image 1" descr=".pptx-build/assets/shot-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96" y="2862072"/>
            <a:ext cx="5309464" cy="230428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315304" y="5230368"/>
            <a:ext cx="518144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0"/>
              </a:lnSpc>
              <a:buNone/>
            </a:pPr>
            <a:r>
              <a:rPr lang="en-US" sz="8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洞察报告：五段结构（事实 / 对比 / 诊断·规则 / 行动 / 证据与边界）+ KPI 与图表，逐图可导出。</a:t>
            </a:r>
            <a:endParaRPr lang="en-US" sz="840" dirty="0"/>
          </a:p>
        </p:txBody>
      </p:sp>
      <p:sp>
        <p:nvSpPr>
          <p:cNvPr id="47" name="Text 43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截图来源：本地运行的工作台实际界面（.impeccable/review/ 下的桌面端截图），非渲染稿；截图内数据由产品界面自身标注为合成聚合预览，已声明背景与数据日期。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· 工程化与落地可行性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不替换既有系统，在 9 个模块里长出第五条能力链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23118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+ 4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23118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Maven 模块 + Python 包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731520" y="1865376"/>
            <a:ext cx="231183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既有的 9 个 Maven 模块之上，新增 semantic / agent / insight / eval 四个 Python 包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372536" y="120700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7128" y="1298448"/>
            <a:ext cx="23118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张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37128" y="1645920"/>
            <a:ext cx="23118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数据库表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3537128" y="1865376"/>
            <a:ext cx="231183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ts_* 17 张（语义层 11 + 工作台 3 + 洞察 3）、tl_* 9 张、dp_* 12 张；增量迁移走 bin/db-migrate.sh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178144" y="120700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2736" y="1298448"/>
            <a:ext cx="23118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 项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342736" y="1645920"/>
            <a:ext cx="23118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自动化测试全通过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342736" y="1865376"/>
            <a:ext cx="231183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Java 189 · Python 74 · 洞察 64 · React 59 · Playwright 5；一键复现 bin/verify-insight.sh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983751" y="1207008"/>
            <a:ext cx="2641016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8343" y="1298448"/>
            <a:ext cx="23118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条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8343" y="1645920"/>
            <a:ext cx="2311832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部署流水线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148343" y="1865376"/>
            <a:ext cx="2311832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7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Actions（自托管 runner）：构建 → 增量迁移 → 发布到 releases/ → 健康检查 / 回滚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66928" y="2743200"/>
            <a:ext cx="11057839" cy="950976"/>
          </a:xfrm>
          <a:prstGeom prst="roundRect">
            <a:avLst>
              <a:gd name="adj" fmla="val 4808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8163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关键依赖与框架接入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" y="3017520"/>
            <a:ext cx="10655503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Spring Boot 2.5.15 / JDK 8 / MyBatis / MySQL 8 / Redis　·　前端 Vue 2.6.12 + Element UI 2.15.14　·　工作台 React 19 + assistant-ui　·　Python 3.11+ / FastAPI　·　检索 BGE-M3（1024 维）+ Milvus　·　编排 claude-agent-sdk 0.1.50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768096" y="3474720"/>
            <a:ext cx="10655503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接入方式：沿用若依的 RBAC（@PreAuthorize + @DataScope）与统一响应；/agent 作为隐藏路由嵌入，不改动既有菜单与业务表结构。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66928" y="380390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落地障碍与解决方案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023360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41148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障碍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70432" y="409651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模型不可用或超时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877056" y="4114800"/>
            <a:ext cx="0" cy="512064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4096512"/>
            <a:ext cx="7381951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解决方案：预算分级：软 40s / 硬 90s，收敛期关闭 deep 与新详情；降级 L2/L3/L4 各有明确出口，前端以琥珀提示展示部分完成；预算耗尽绝不宣称「业务能力缺失」。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66928" y="4791456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808" y="488289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障碍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70432" y="4864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权限与资格会在线上漂移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3877056" y="4882896"/>
            <a:ext cx="0" cy="512064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4864608"/>
            <a:ext cx="7381951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解决方案：资格在每次检索时重算（上线状态、字段在线、快照已发布、basis_hash 一致），只收紧不放宽；resume 时资格只能更严；权限永不写入快照或索引；浏览器不直连 Python。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928" y="5559552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" y="565099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障碍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70432" y="5632704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8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小样本与合规风险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877056" y="5650992"/>
            <a:ext cx="0" cy="512064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41648" y="5632704"/>
            <a:ext cx="7381951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8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解决方案：任一格 &lt; 20 人整组抑制（防止从合计反推小格）；对比要求双侧有效样本 ≥ 30；洞察不下发名单、不建群、不派任务；报告加密落库，失败审计不保存 SQL 与客户信息。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来源：AGENTS.md（模块与依赖方向）；sql/ 全量 CREATE TABLE 统计；docs/validation/语义索引层建设验收记录.md（测试数）；.github/workflows/deploy.yml。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· 后续计划与团队分工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把「本地已验证」推进到「生产可验收」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356402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353312"/>
            <a:ext cx="31616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短期 · 1–2 个月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68096" y="1682496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10512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81051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0704" y="177393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 Java 迁移并完成真实 MySQL + 已认证 HTTP 的整链验收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8096" y="2450592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45059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" y="241401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登记真实指标绑定，发布首批洞察技能（当前 3 个技能均为 DRAFT）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" y="3090672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09067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0704" y="305409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补两篇交付缺口：AudienceQueryDSL 规范、与原系统的接口清单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8096" y="3730752"/>
            <a:ext cx="201168" cy="201168"/>
          </a:xfrm>
          <a:prstGeom prst="ellipse">
            <a:avLst/>
          </a:prstGeom>
          <a:solidFill>
            <a:srgbClr val="C25A0E"/>
          </a:solidFill>
          <a:ln w="12700">
            <a:solidFill>
              <a:srgbClr val="C25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7307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" y="369417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为工作台管理页补一次真实页面视觉验收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13834" y="1243584"/>
            <a:ext cx="356402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15002" y="1353312"/>
            <a:ext cx="31616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 · 3–6 个月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15002" y="1682496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15002" y="1810512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5002" y="181051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7610" y="177393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标签规模从 969 扩到 2,828（脱敏版全量）→ 3,396（行内实际）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15002" y="2450592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5002" y="245059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7610" y="241401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把线上反馈自动回灌为评测样本（当前该环节未自动化，反馈未进评测包）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15002" y="3090672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5002" y="309067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7610" y="305409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补齐稳定性复跑（计划 300 次，实际 42 次）与容量压测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15002" y="3730752"/>
            <a:ext cx="201168" cy="201168"/>
          </a:xfrm>
          <a:prstGeom prst="ellipse">
            <a:avLst/>
          </a:prstGeom>
          <a:solidFill>
            <a:srgbClr val="A87A10"/>
          </a:solidFill>
          <a:ln w="12700">
            <a:solidFill>
              <a:srgbClr val="A87A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5002" y="37307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7610" y="369417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根因簇扩到方案上限 20 个，并重跑 P2 全量 L2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60741" y="1243584"/>
            <a:ext cx="356402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61909" y="1353312"/>
            <a:ext cx="316169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61909" y="1682496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61909" y="1810512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61909" y="181051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54517" y="177393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与行内客群 / 营销系统集成，把「评测门禁 → 复核 → 发布」固化为常规变更流程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61909" y="2450592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1909" y="245059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54517" y="241401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完成银行在岗人员口径签署（当前 human_bank_signoff = false）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61909" y="3090672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1909" y="309067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54517" y="305409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沉淀可复用的语义层建设方法：事实冻结 → 生成 → 诊断 → 受控变更 → 对照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61909" y="3730752"/>
            <a:ext cx="201168" cy="201168"/>
          </a:xfrm>
          <a:prstGeom prst="ellipse">
            <a:avLst/>
          </a:prstGeom>
          <a:solidFill>
            <a:srgbClr val="5B4F43"/>
          </a:solidFill>
          <a:ln w="12700">
            <a:solidFill>
              <a:srgbClr val="5B4F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61909" y="37307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54517" y="3694176"/>
            <a:ext cx="285079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把洞察技能从 3 个扩到覆盖更多客群经营场景，并补齐稳定性复跑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928" y="4590288"/>
            <a:ext cx="11057839" cy="1280160"/>
          </a:xfrm>
          <a:prstGeom prst="roundRect">
            <a:avLst>
              <a:gd name="adj" fmla="val 3571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" y="46817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团队分工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86384" y="4956048"/>
            <a:ext cx="342991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32688" y="5029200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队长 / 业务负责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932688" y="5248656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32688" y="5468112"/>
            <a:ext cx="3137306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业务场景定义、口径裁定、对外沟通、验收标准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80890" y="4956048"/>
            <a:ext cx="342991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27194" y="5029200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技术负责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4527194" y="5248656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27194" y="5468112"/>
            <a:ext cx="3137306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语义检索与 Agent 编排、Guard 校验、工程化与部署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975397" y="4956048"/>
            <a:ext cx="342991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121701" y="5029200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 / 演示</a:t>
            </a:r>
            <a:endParaRPr lang="en-US" sz="940" dirty="0"/>
          </a:p>
        </p:txBody>
      </p:sp>
      <p:sp>
        <p:nvSpPr>
          <p:cNvPr id="61" name="Text 59"/>
          <p:cNvSpPr/>
          <p:nvPr/>
        </p:nvSpPr>
        <p:spPr>
          <a:xfrm>
            <a:off x="8121701" y="5248656"/>
            <a:ext cx="313730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待填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121701" y="5468112"/>
            <a:ext cx="3137306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交付文档、评测报告整理、路演材料与演示录制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说明：队伍名称与成员姓名请在交付前替换本页与封面上的「待填」。计划项状态取自仓库自述缺口（docs/交付文档/README.md 等）。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· 总结与价值回顾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三个亮点，都是可复核的数字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CEEE0"/>
          </a:solidFill>
          <a:ln w="12700">
            <a:solidFill>
              <a:srgbClr val="F3D9BF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71600"/>
            <a:ext cx="10582351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本项目为银行个人客户经营条线的客户经理，在客群圈选与客群洞察场景下，通过语义检索与受控 Agent 工作流，把「翻目录、对口径、取数、找基准」四步手工链路收成一个可核验的动作，实现一句话产出可统计、可建群、可复核的客群方案与洞察报告。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249424"/>
            <a:ext cx="3564026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377440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377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2377440"/>
            <a:ext cx="27959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高精度自然语言检索推荐标签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" y="2798064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889504"/>
            <a:ext cx="316169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0.9907 / 0.9936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3310128"/>
            <a:ext cx="316169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Recall@20（案例宏平均 / 原子条件微平均）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68096" y="3584448"/>
            <a:ext cx="3161690" cy="1316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六通道召回 + RRF(k=60) + BGE 重排，全程资格内检索。600 题封存集上幻觉标签引用 0/1200、越权标签引用 0/1200。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313834" y="2249424"/>
            <a:ext cx="3564026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5002" y="2377440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5002" y="2377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0762" y="2377440"/>
            <a:ext cx="27959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客群洞察 Skill 体系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15002" y="2798064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5002" y="2889504"/>
            <a:ext cx="316169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24 / 4 / 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15002" y="3310128"/>
            <a:ext cx="316169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 / 指标定义 / 基准 / 图表原子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515002" y="3584448"/>
            <a:ext cx="3161690" cy="1316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内容即代码的版本化技能包。数字只来自事实登记表；STAT 诊断的 Wilson 区间由 Guard 独立重算；任一格 &lt; 20 人整组抑制。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060741" y="2249424"/>
            <a:ext cx="3564026" cy="279806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61909" y="2377440"/>
            <a:ext cx="274320" cy="274320"/>
          </a:xfrm>
          <a:prstGeom prst="ellipse">
            <a:avLst/>
          </a:prstGeom>
          <a:solidFill>
            <a:srgbClr val="E4761B"/>
          </a:solidFill>
          <a:ln w="12700">
            <a:solidFill>
              <a:srgbClr val="E476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1909" y="2377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27669" y="2377440"/>
            <a:ext cx="279593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评测与反馈数据飞轮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61909" y="2798064"/>
            <a:ext cx="3161690" cy="0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1909" y="2889504"/>
            <a:ext cx="3161690" cy="4206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1,994 条 / 186 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61909" y="3310128"/>
            <a:ext cx="316169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合成评测案例 / 受控变更包操作数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8261909" y="3584448"/>
            <a:ext cx="3161690" cy="1316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94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P2 诊断出 8 个根因簇 → P3 生成 3 个受控变更包 → 新快照新索引 → A/B/C/D 对照，固定 100 例 Demo 全通过。缺的是线上反馈自动回灌。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566928" y="5212080"/>
            <a:ext cx="11057839" cy="841248"/>
          </a:xfrm>
          <a:prstGeom prst="roundRect">
            <a:avLst>
              <a:gd name="adj" fmla="val 5435"/>
            </a:avLst>
          </a:prstGeom>
          <a:solidFill>
            <a:srgbClr val="F6F3EE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5294376"/>
            <a:ext cx="10655503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87A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诚实边界（我们主动说，也请评委按这个口径提问）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" y="5495544"/>
            <a:ext cx="10655503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6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已完成：本地实现 + 固定合成验证 + 封存集零违规。尚未完成：真实 MySQL / 已认证整链验收、洞察技能的真实指标绑定与发布（3 个技能仍为 DRAFT）、稳定性复跑（NOT_MEASURED）、L3 Java 执行（NOT_APPLICABLE）、银行在岗人员口径签署（human_bank_signoff = false）。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来源：本页所有数字与前文各页脚注一致。亮点三的「186 条操作」为三轮受控变更包合计（业务概念 10 / 字段语义 9 / 别名 56 / 正反例 75 / 概念候选关联 19 / 业务词典 17）。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C25A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· Q&amp;A 常见问题参考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五个最可能被问到的问题，给可复核的回答方向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37160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35331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02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这个项目的创新点在哪？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370832" y="137160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33502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差异化在「口径」而不是「生成」：跨桶阈值不可近似（INEXPRESSIBLE），负向条件的未知码值必须显式声明策略，资格在检索时重算且只收紧不放宽。同类方案多数只做到「检索到标签」，我们做到了「口径可复核 + 越权不可能」。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37744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25296" y="235915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02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技术选型为什么这么选？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70832" y="237744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34086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Java 继续持有身份、资格、发布版本、编译、统计、建群六项权威，因此业务系统零改造；Python 只消费不可变快照 + Java 算好的资格集合，浏览器不直连 Python。检索用 BGE-M3 + Milvus（本地索引可切），编排用 Claude Agent SDK 单 Agent 循环（旧 LangGraph 图已删除，不能通过环境变量切回）。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38328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25296" y="336499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02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数据从哪来？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4370832" y="338328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334670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分三类：① 标签事实来自仓库 SQL 与脱敏版标签库结构（969 上线标签口径）；② 评测案例是合成生成（500 母案例 × 4 = 2,000，隔离 6 条后交付 1,994），绑定仓库 SQL 与 2,000 名模拟客户 fixture；③ 洞察数字来自固定合成聚合，声明 synthetic=true。600 题封存集由已复核快照构造，不是第三方独立 Gold。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66928" y="426110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DFBF7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438912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25296" y="437083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02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怎么保证准确性？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370832" y="438912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435254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五维确定性 Guard（来源 / 数值 / 时间 / 冻结条件 / 需求覆盖）+ 结构化条件树 + 检索时重算资格 + auto_execute 恒为 false。实测：幻觉标签引用 0/1200、越权标签引用 0/1200、错误自动执行 0/600；洞察侧 STAT 诊断的 Wilson 区间由 Guard 独立重算，容差 0.01。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66928" y="526694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E4D8"/>
            </a:solidFill>
            <a:prstDash val="solid"/>
          </a:ln>
          <a:effectLst>
            <a:outerShdw blurRad="101600" dist="25400" dir="5400000" algn="bl" rotWithShape="0">
              <a:srgbClr val="C9B79E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" y="539496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25296" y="5376672"/>
            <a:ext cx="3017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0"/>
              </a:lnSpc>
              <a:buNone/>
            </a:pPr>
            <a:r>
              <a:rPr lang="en-US" sz="102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能落地吗？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370832" y="5394960"/>
            <a:ext cx="0" cy="676656"/>
          </a:xfrm>
          <a:prstGeom prst="line">
            <a:avLst/>
          </a:prstGeom>
          <a:noFill/>
          <a:ln w="12700">
            <a:solidFill>
              <a:srgbClr val="EDE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5358384"/>
            <a:ext cx="6888175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7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工程化已就位：9 个 Maven 模块 + 4 个 Python 包、76 张表、391 项测试全通过、一条部署流水线。风险点也明确：模型超时用预算分级与 L2/L3/L4 降级兜住；权限漂移用「检索时重算、只收紧」兜住；合规用小样本整组抑制与不派名单兜住。尚未完成的整链验收与银行签署已在计划里。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66928" y="6345936"/>
            <a:ext cx="10143439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备注：本页为答辩备用页，正式路演时可直接跳到末页。所有回答均可在仓库中找到出处 —— 见前文各页脚注列出的报告与代码路径。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801807" y="634593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附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pptx-build/assets/hero-dis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0965" y="594360"/>
            <a:ext cx="5669280" cy="5669280"/>
          </a:xfrm>
          <a:prstGeom prst="rect">
            <a:avLst/>
          </a:prstGeom>
        </p:spPr>
      </p:pic>
      <p:pic>
        <p:nvPicPr>
          <p:cNvPr id="3" name="Image 1" descr=".pptx-build/assets/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61264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16736" y="53035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</a:t>
            </a:r>
            <a:endParaRPr lang="en-US" sz="1900" dirty="0"/>
          </a:p>
        </p:txBody>
      </p:sp>
      <p:sp>
        <p:nvSpPr>
          <p:cNvPr id="5" name="Text 1"/>
          <p:cNvSpPr/>
          <p:nvPr/>
        </p:nvSpPr>
        <p:spPr>
          <a:xfrm>
            <a:off x="566928" y="2331720"/>
            <a:ext cx="7315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4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566928" y="3072384"/>
            <a:ext cx="731520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A1C0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感谢聆听，欢迎提问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566928" y="371246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4F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TagPilot 战队 · 客群圈选与洞察场景下的标签智能体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66928" y="4224528"/>
            <a:ext cx="3931920" cy="0"/>
          </a:xfrm>
          <a:prstGeom prst="line">
            <a:avLst/>
          </a:prstGeom>
          <a:noFill/>
          <a:ln w="12700">
            <a:solidFill>
              <a:srgbClr val="E0D3C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4370832"/>
            <a:ext cx="694944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96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一个可以现场验证的请求：请任给一句中文客户描述，我们现场跑一遍完整链路。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66928" y="50474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6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2026-09-30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10701</Words>
  <Application>WPS 演示</Application>
  <PresentationFormat>On-screen Show (16:9)</PresentationFormat>
  <Paragraphs>835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Cambria</vt:lpstr>
      <vt:lpstr>Cambria</vt:lpstr>
      <vt:lpstr>Cambria</vt:lpstr>
      <vt:lpstr>Calibri</vt:lpstr>
      <vt:lpstr>Helvetica Neue</vt:lpstr>
      <vt:lpstr>苹方-简</vt:lpstr>
      <vt:lpstr>宋体</vt:lpstr>
      <vt:lpstr>Arial Unicode MS</vt:lpstr>
      <vt:lpstr>宋体-简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TagPilot 战队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TagPilot — 客群圈选与洞察场景下的标签智能体</dc:title>
  <dc:creator>TagPilot 战队</dc:creator>
  <dc:subject>2026 智能体挑战赛 路演</dc:subject>
  <cp:lastModifiedBy>zhenshan Wei</cp:lastModifiedBy>
  <cp:revision>48</cp:revision>
  <dcterms:created xsi:type="dcterms:W3CDTF">2026-09-30T03:16:41Z</dcterms:created>
  <dcterms:modified xsi:type="dcterms:W3CDTF">2026-09-30T03:16:41Z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BCB016A3549BC8B42975BC6A776BE957_42</vt:lpwstr>
  </property>
  <property fmtid="{D5CDD505-2E9C-101B-9397-08002B2CF9AE}" pid="3" name="KSOProductBuildVer">
    <vt:lpwstr>2052-12.1.26050.26050</vt:lpwstr>
  </property>
</Properties>
</file>