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70" r:id="rId5"/>
    <p:sldId id="271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9" r:id="rId16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开场（30 秒）：大家好，我们是 TagPilot 战队，作品是「客群圈选与洞察场景下的标签智能体」。一句话：让客户经理用一句中文，圈出对的客群，看懂这群人。接下来 8 分钟，我按竞赛模板的 12 个部分讲。所有数字都来自仓库里可复核的报告，口径写在脚注里。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痛点（1 分 30 秒）：第一，标签规模已经不是「记不住」的问题，是「口径对不上」的问题 —— 969 个标签、5470 条别名、1723 条码值，客户经理靠目录翻找，口径靠口头对齐。第二，客群圈完就结束了，没有「看客群」的标准动作，结论不可复现、没有基准。右下四条是我们写进验收的红线，后面每一页的数字都要过这四条。注意：人工耗时我没有做对照测量，所以这一页不放「节省 4 小时」这类数字。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方案与价值（1 分 30 秒）：核心就一句话 —— 把「翻目录、对口径、取数、找基准」四步手工链路，收成一个可核验的动作。三个数字：检索召回 0.9907（宏观口径，微观是 0.9936，两个我都列出来了）；端到端方案判定 398/500；合规红线三项全零。第三个数字我们最看重，因为在银行场景里，圈出一个越权标签就是合规事故。最后强调：人工基线我们没测，所以不编时间节省。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架构（1 分钟）：四层。输入层是工作台，嵌在若依的 /agent 路由里，走 iframe + SSE 增量事件。处理层左边是 Java 控制面 —— 身份、资格、发布版本、编译、统计、建群六项权威全在 Java，所以我们能接进现有系统而不改业务系统；右边是 Python 三条能力链：理解层做六通道召回加 RRF 加 BGE 重排，编排层是 Claude Agent SDK 单循环加五个工具加确定性 Guard，洞察层是三个技能。底座是 MySQL、Milvus、Redis 和加密 SQLite。输出层两个东西：客群方案和洞察报告，中间有一个硬闸门 auto_execute=false。请评委注意最后一句：浏览器从不直连 Python，所以「谁有权看什么」永远只有一个答案。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流程图（1 分 15 秒）：五个节点。一，需求进入 —— Java 注入 owner、线程、发布版本和资格，生成不可变运行记录，同 ID 同原文幂等。二，检索取证 —— 三个工具在资格集内取证。三，方案成型 —— 编排成条件树并自查。四，Guard 确定性校验 —— 来源、数值、时间、冻结条件、需求覆盖五个维度，纯 Python，手工编辑也走同一个 Guard。五，人工确认后 Java 编译成规则 SQL、统计人数、写客群。下面三条分支：无候选、信息不足、预算收敛。关键设计是这三条都有明确出口 —— 尤其降级：L2/L3/L4 全都不能统计或建群，预算耗尽绝不宣称「业务上没有这个标签」。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模块详解（1 分 15 秒）：只讲三个难点。A 语义检索，难点是「口径不能近似」——「超过 100 万」在我们这里不允许近似成「100 万以上」，桶不严丝合缝就返回无法表达。B 编排层，难点是模型会编，但权限和口径不能编 —— 所以 Guard 和 SDK 完全解耦，工具、提交、手工编辑三条路径共用同一套校验。C 洞察，难点是结论要可复核又不能泄露个体 —— 数字只来自事实登记表，统计诊断的 Wilson 区间由 Guard 独立重算，任一格小于 20 人整组抑制，防止从合计减去其余格反推小格。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可控生成（1 分 15 秒）：五道闸门。一，条件必须绑定证据，不能凭空说。二，输出不是自然语言，是结构化条件树，深度、组数、ID 唯一性都有硬约束。三，五维确定性 Guard：来源、数值、时间、冻结条件、需求覆盖。四，资格在每次检索时重算，空资格必须空结果。五，auto_execute 硬编码为 false，合法 DSL 也不执行。右边三项零违规是我们最看重的：幻觉标签 0/1200、越权标签 0/1200、错误自动执行 0/600。最后那条也请评委注意：我们的失败里 20/26 是预算收敛，不是语义绑错，这个结论只在 max_turns=10、预算 1 美元条件下成立。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验证数据（1 分 30 秒）：先看左边五个用例 —— 正常、边界口径、越权、澄清、码值边界，全通过。口径那条请评委注意：「超过 100 万」我们不允许近似成「100 万以上」，桶不严丝合缝就返回无法表达。右边是受控 A/B，我特别想讲第一条：我们换了语义数据，L1 净收益是 0 —— 这是个负结果，我们也放上来。12 个召回缺口全部是 NFKC 配置修好的；15 例固定回归从 14/15 到 15/15，p95 时延从 81 秒降到 18 秒；HOLDOUT 200/200。底部这四条边界我必须主动说清楚 —— 人工基线没测、L2 是抽样、稳定性 NOT_MEASURED、L3 本轮不适用。这些在报告里都是白纸黑字，我不想在台上给一个更好看但不成立的数字。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演示（1 分 30 秒，现场切换或播放录屏）：0 到 30 秒从对象群列表点「继续圈选」进工作台；30 秒到 1 分 20 秒用一句话描述客群并勾选上下文标签；1 分 20 到 2 分 20 回答两三个口径问题，注意看 Agent 逐条收敛；2 分 20 统计人数，这里 Java 才编译 SQL；3 分钟确认建群；最后 3 分 40 起跑洞察包，看五段卡和图表，导出 SVG。屏幕上这两张是真实运行截图 —— 大家能看到界面自己标注了「合成聚合数据预览」，我们不假装是真实客户数据。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工程化（1 分钟）：我们没有另起一个系统，而是在若依既有的 9 个 Maven 模块上长出第五条能力链，所以业务系统零改造。规模：76 张表，语义层 17 张；391 项自动化测试全通过；一条 GitHub Actions 流水线管构建、增量迁移、发布和回滚。下面三个障碍我认为是真实存在的：模型会超时、权限会在线上漂移、小样本有合规风险 —— 每个都给了具体做法，尤其是资格在检索时重算但只收紧不放宽，这一条是整个权限模型的地基。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计划与分工（45 秒）：短期最关键的一件事是完成真实 MySQL 和已认证整链验收 —— 目前所有洞察数字都来自固定合成聚合，这一点必须说清楚。中期是把标签规模从 969 扩到行内实际的 3396，以及把线上反馈自动回灌成评测样本 —— 这一环现在还没自动化。长期是完成银行口径签署，并把这套「事实冻结 → 生成 → 诊断 → 受控变更 → 对照」的方法沉淀成可复用流程。分工见下，成员姓名会在交付前补上。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总结（45 秒）：三个亮点。第一，检索 —— 0.9907 和 0.9936 两个口径我都给，加上两项零违规。第二，洞察技能体系 —— 3 个技能、24 个指标、4 个基准、6 类图表原子，核心是数字只来自事实登记表、统计诊断可重算、小样本整组抑制。第三，数据飞轮 —— 1994 条评测案例，P2 诊断出 8 个根因簇，P3 生成 186 条操作的受控变更包，固定 100 例全通过；但线上反馈的自动回灌这一环还没做。最后一栏是诚实边界，如果评委问「能落地吗」，我的回答是：架构和工程化已经就位，整链验收和银行签署还没做完。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结束（15 秒）：以上就是 TagPilot。最后一句话，如果评委愿意，可以任给一句中文客户描述，我们现场跑一遍完整链路 —— 从一句话到人数、到客群、到洞察报告。谢谢大家。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88552" y="137160"/>
            <a:ext cx="6400800" cy="640080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57200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12064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1316736" y="859536"/>
            <a:ext cx="329184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标签智能体 · 客群圈选与洞察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66928" y="1883664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 智能体挑战赛 · 路演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566928" y="2176272"/>
            <a:ext cx="7498080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</a:t>
            </a:r>
            <a:r>
              <a:rPr lang="en-US" sz="5000" b="1" dirty="0">
                <a:solidFill>
                  <a:srgbClr val="E4761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Pilot</a:t>
            </a:r>
            <a:endParaRPr lang="en-US" sz="5000" dirty="0"/>
          </a:p>
        </p:txBody>
      </p:sp>
      <p:sp>
        <p:nvSpPr>
          <p:cNvPr id="8" name="Text 4"/>
          <p:cNvSpPr/>
          <p:nvPr/>
        </p:nvSpPr>
        <p:spPr>
          <a:xfrm>
            <a:off x="566928" y="3035808"/>
            <a:ext cx="78638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客群圈选与洞察场景下的标签智能体</a:t>
            </a:r>
            <a:endParaRPr lang="en-US" sz="2700" dirty="0"/>
          </a:p>
        </p:txBody>
      </p:sp>
      <p:sp>
        <p:nvSpPr>
          <p:cNvPr id="9" name="Text 5"/>
          <p:cNvSpPr/>
          <p:nvPr/>
        </p:nvSpPr>
        <p:spPr>
          <a:xfrm>
            <a:off x="566928" y="3584448"/>
            <a:ext cx="749808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让客户经理用一句中文，圈出对的客群，看懂这群人。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66928" y="437083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队伍名称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700784" y="4370832"/>
            <a:ext cx="420624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“圈”力觉醒</a:t>
            </a: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战队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566928" y="464515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团队成员与分工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700784" y="4645152"/>
            <a:ext cx="585216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业务负责 </a:t>
            </a:r>
            <a:r>
              <a:rPr lang="zh-CN" alt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茅云峰</a:t>
            </a:r>
            <a:r>
              <a:rPr 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技术负责 </a:t>
            </a:r>
            <a:r>
              <a:rPr lang="zh-CN" alt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陈布</a:t>
            </a:r>
            <a:r>
              <a:rPr lang="en-US" altLang="zh-CN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</a:t>
            </a:r>
            <a:r>
              <a:rPr lang="zh-CN" alt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魏震山</a:t>
            </a:r>
            <a:r>
              <a:rPr lang="en-US" altLang="zh-CN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/</a:t>
            </a:r>
            <a:r>
              <a:rPr lang="zh-CN" alt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叶帅</a:t>
            </a:r>
            <a:r>
              <a:rPr 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· 文档/演示 </a:t>
            </a:r>
            <a:r>
              <a:rPr lang="zh-CN" altLang="en-US" sz="11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叶帅</a:t>
            </a:r>
            <a:endParaRPr lang="zh-CN" altLang="en-US" sz="115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566928" y="491947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日期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700784" y="4919472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5B4F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· 项目概述与业务痛点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一句话说清：为谁、在什么场景、被什么卡住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1057839" cy="1060704"/>
          </a:xfrm>
          <a:prstGeom prst="roundRect">
            <a:avLst>
              <a:gd name="adj" fmla="val 5172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990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项目一句话概述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27632"/>
            <a:ext cx="10582351" cy="6217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面向银行个人客户经营场景，本项目通过“六通道召回 +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RRF +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重排”的语义检索、受控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工作流与洞察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Skill，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将自然语言营销需求一键转化为可核验的客群圈选方案与分析洞察，实现从“找标签、圈客群”到“看特征、做分析”的智能闭环——标签 </a:t>
            </a:r>
            <a:r>
              <a:rPr lang="en-US" altLang="zh-CN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 </a:t>
            </a:r>
            <a:r>
              <a:rPr lang="zh-CN" altLang="en-US" sz="1200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达 99.07%，1,200 次测试零幻觉、零越权。</a:t>
            </a:r>
            <a:endParaRPr lang="zh-CN" altLang="en-US" sz="1200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6384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52144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标签多、口径散，客群圈选高度依赖人工判断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86384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786384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要在近千个个人客户标签里按目录翻找，还要判断「月日均金融资产」与「AUM」、「上月末」与「近 30 天」是不是同一口径。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786384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翻标签目录 → 回看字段口径说明 → 选项类再逐个对照码表；口径对齐靠口头沟通，没有留痕。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6384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86384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演示基线快照共 969 个上线标签、682 个可发布概念、5,470 条已复核别名、1,723 条码值，底层宽表 970 列。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86384" y="48768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口径圈错则客群多圈或漏圈，营销名单不准；口径靠口头对齐，事后无法复核、无法追溯。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96432" y="2414016"/>
            <a:ext cx="5428336" cy="2871216"/>
          </a:xfrm>
          <a:prstGeom prst="roundRect">
            <a:avLst>
              <a:gd name="adj" fmla="val 1911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5888" y="2633472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5888" y="263347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81648" y="2633472"/>
            <a:ext cx="462366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圈得出客群，却看不懂客群</a:t>
            </a:r>
            <a:endParaRPr lang="en-US" sz="12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415888" y="30175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痛点描述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415888" y="32004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客群圈定后，只有“筛选规则 + 命中人数”，却回答不了三个关键问题：这群人是谁、有什么特征、值不值得经营。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415888" y="35763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当前做法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6415888" y="37592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分析师临时取数 → 手工透视分析 → 凭经验寻找对比基准 → 人工输出结论；流程依赖个人经验，口径与结果难以统一。</a:t>
            </a:r>
            <a:endParaRPr 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15888" y="41351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数据支撑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6415888" y="4318000"/>
            <a:ext cx="4989424" cy="348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原标签系统缺少标准化洞察能力、指标口径与基准体系；本次项目新增 3 类洞察 Skill、24 项标准指标、4 类对比基准，将常用分析动作沉淀为可复用能力。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415888" y="4693920"/>
            <a:ext cx="4989424" cy="173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8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导致后果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6415888" y="4876800"/>
            <a:ext cx="4989424" cy="1833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不可复现、不可对比、不可安全</a:t>
            </a: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发，分析结论存在合规风险。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66928" y="5413248"/>
            <a:ext cx="11057839" cy="676656"/>
          </a:xfrm>
          <a:prstGeom prst="roundRect">
            <a:avLst>
              <a:gd name="adj" fmla="val 6757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86384" y="5504688"/>
            <a:ext cx="10618927" cy="182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我们给自己定的红线（写进验收，违反即不合格）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63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不改宽 tl_tag 来存别名或口径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35295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210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权限不写入快照或索引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62727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642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空资格必须返回空结果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9015984" y="5742432"/>
            <a:ext cx="2615184" cy="23774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07424" y="574243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合法 DSL 也不得自动执行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· 解决方案与目标价值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把“找标签、拼条件、核规则、看客群”，变成一句话完成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11057839" cy="1078992"/>
          </a:xfrm>
          <a:prstGeom prst="roundRect">
            <a:avLst>
              <a:gd name="adj" fmla="val 5085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8074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1609344"/>
            <a:ext cx="10582351" cy="640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客户经理只需用中文描述目标客群，系统自动完成标签查找、条件组合和规则校验，最终生成可核验的客群方案。</a:t>
            </a:r>
            <a:endParaRPr lang="zh-CN" altLang="en-US" sz="1200" dirty="0"/>
          </a:p>
          <a:p>
            <a:pPr marL="0" indent="0" algn="l">
              <a:lnSpc>
                <a:spcPts val="1650"/>
              </a:lnSpc>
              <a:buNone/>
            </a:pPr>
            <a:r>
              <a:rPr lang="zh-CN" altLang="en-US" sz="1200" dirty="0"/>
              <a:t>语义检索负责“找对标签”，受控 </a:t>
            </a:r>
            <a:r>
              <a:rPr lang="en-US" altLang="zh-CN" sz="1200" dirty="0"/>
              <a:t>Agent </a:t>
            </a:r>
            <a:r>
              <a:rPr lang="zh-CN" altLang="en-US" sz="1200" dirty="0"/>
              <a:t>负责“拼对条件”，确定性 </a:t>
            </a:r>
            <a:r>
              <a:rPr lang="en-US" altLang="zh-CN" sz="1200" dirty="0"/>
              <a:t>Guard </a:t>
            </a:r>
            <a:r>
              <a:rPr lang="zh-CN" altLang="en-US" sz="1200" dirty="0"/>
              <a:t>逐项检查来源、数值、时间和冻结条件；确认建群后，还可调用洞察 </a:t>
            </a:r>
            <a:r>
              <a:rPr lang="en-US" altLang="zh-CN" sz="1200" dirty="0"/>
              <a:t>Skill </a:t>
            </a:r>
            <a:r>
              <a:rPr lang="zh-CN" altLang="en-US" sz="1200" dirty="0"/>
              <a:t>分析客群特征。全程不由 </a:t>
            </a:r>
            <a:r>
              <a:rPr lang="en-US" altLang="zh-CN" sz="1200" dirty="0"/>
              <a:t>Agent </a:t>
            </a:r>
            <a:r>
              <a:rPr lang="zh-CN" altLang="en-US" sz="1200" dirty="0"/>
              <a:t>直接生成 </a:t>
            </a:r>
            <a:r>
              <a:rPr lang="en-US" altLang="zh-CN" sz="1200" dirty="0"/>
              <a:t>SQL、</a:t>
            </a:r>
            <a:r>
              <a:rPr lang="zh-CN" altLang="en-US" sz="1200" dirty="0"/>
              <a:t>不查询客户明细、不自动执行，关键动作均需人工确认。</a:t>
            </a:r>
            <a:endParaRPr lang="zh-CN" alt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99.07%</a:t>
            </a:r>
            <a:endParaRPr lang="en-US" altLang="zh-CN" sz="3000" b="1" dirty="0">
              <a:solidFill>
                <a:srgbClr val="E4761B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768096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标签召回率 </a:t>
            </a:r>
            <a:r>
              <a:rPr lang="en-US" altLang="zh-CN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Recall@20</a:t>
            </a:r>
            <a:endParaRPr lang="en-US" altLang="zh-CN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096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输入一句业务描述，目标标签基本都能进入前 20 个候选。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测试覆盖 1,296 个案例、1,880 个原子条件。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9930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21098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79.6%</a:t>
            </a:r>
            <a:endParaRPr lang="en-US" altLang="zh-CN" sz="30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21098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端到端一次通过率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21098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 条完整客群需求中，398 条无需人工修正即可通过判定。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按完整方案严格评测，而不是只判断最终人数是否一致。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072933" y="2523744"/>
            <a:ext cx="3551834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74101" y="2633472"/>
            <a:ext cx="3149498" cy="49377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altLang="zh-CN" sz="30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altLang="zh-CN" sz="30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74101" y="3127248"/>
            <a:ext cx="3149498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50" b="1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标签幻觉与越权引用</a:t>
            </a:r>
            <a:endParaRPr lang="zh-CN" altLang="en-US" sz="950" b="1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74101" y="3364992"/>
            <a:ext cx="3149498" cy="56692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1200 次标签引用测试中：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260"/>
              </a:lnSpc>
              <a:buNone/>
            </a:pPr>
            <a:r>
              <a:rPr lang="zh-CN" alt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 0 次｜越权标签 0 次</a:t>
            </a:r>
            <a:endParaRPr lang="zh-CN" altLang="en-US" sz="92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66928" y="4169664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落地场景：谁、在哪个环节用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443984"/>
            <a:ext cx="11057839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客户经理｜营销客群圈选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营销策划环节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567055" y="5047615"/>
            <a:ext cx="3387090" cy="10795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一句话描述目标客户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系统自动找标签、拼条件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对关键歧义进行确认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查看预估人数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确认建群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319930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标签管理员｜标签治理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19930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语义层治理环节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4319905" y="5047615"/>
            <a:ext cx="3387090" cy="9340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维护概念、别名、码值和业务口径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系统发布前自动检查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通过后进入统一语义层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新标签即可被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检索和使用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72933" y="4572000"/>
            <a:ext cx="3551834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数据分析师｜客群洞察</a:t>
            </a:r>
            <a:endParaRPr lang="zh-CN" altLang="en-US" sz="120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72933" y="4828032"/>
            <a:ext cx="3551834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客群洞察环节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8072755" y="5047615"/>
            <a:ext cx="3387090" cy="107886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选择已圈定客群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调用标准化洞察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</a:t>
            </a:r>
            <a:endParaRPr lang="en-US" altLang="zh-CN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自动生成特征分布、对比基准和图表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小样本抑制与口径校验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输出可复核分析结果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· 技术架构图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整体</a:t>
            </a: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架构：Java 管权限，Python 管智能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58495" y="6346190"/>
            <a:ext cx="10143490" cy="4133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模型侧可替换，业务侧可审计：前沿能力独立成进程，关键环节留在成熟主干。</a:t>
            </a:r>
            <a:endParaRPr lang="zh-CN" altLang="en-US" sz="1600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0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8715" y="1170305"/>
            <a:ext cx="9162415" cy="50107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· 核心流程图 / DAG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</a:t>
            </a:r>
            <a:r>
              <a:rPr lang="en-US" altLang="zh-CN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放进“有边界”的流程里，每一步都可校验、可回退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00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用户一句话进入后，系统自动完成标签检索、条件编排与规则校验。遇到歧义或校验失败时，自动进入追问或修正，确保结果可核验、可追溯、可人工接管。</a:t>
            </a:r>
            <a:endParaRPr lang="zh-CN" altLang="en-US" sz="1000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0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065" y="1170305"/>
            <a:ext cx="8459470" cy="50819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· 核心模块详解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260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三个核心模块，解决三类技术难点</a:t>
            </a:r>
            <a:endParaRPr sz="260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A. 语义检索层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68096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tagpilot-semantic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8096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做什么</a:t>
            </a:r>
            <a:endParaRPr sz="880"/>
          </a:p>
        </p:txBody>
      </p:sp>
      <p:sp>
        <p:nvSpPr>
          <p:cNvPr id="9" name="Text 7"/>
          <p:cNvSpPr/>
          <p:nvPr/>
        </p:nvSpPr>
        <p:spPr>
          <a:xfrm>
            <a:off x="768096" y="2390775"/>
            <a:ext cx="3161690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将自然语言需求匹配到业务标签，</a:t>
            </a:r>
            <a:endParaRPr sz="1700"/>
          </a:p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确保筛选口径准确。</a:t>
            </a:r>
            <a:endParaRPr sz="1700"/>
          </a:p>
        </p:txBody>
      </p:sp>
      <p:sp>
        <p:nvSpPr>
          <p:cNvPr id="10" name="Text 8"/>
          <p:cNvSpPr/>
          <p:nvPr/>
        </p:nvSpPr>
        <p:spPr>
          <a:xfrm>
            <a:off x="768096" y="2981325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用什么技术</a:t>
            </a:r>
            <a:endParaRPr sz="880"/>
          </a:p>
        </p:txBody>
      </p:sp>
      <p:sp>
        <p:nvSpPr>
          <p:cNvPr id="11" name="Shape 9"/>
          <p:cNvSpPr/>
          <p:nvPr/>
        </p:nvSpPr>
        <p:spPr>
          <a:xfrm>
            <a:off x="768096" y="3209925"/>
            <a:ext cx="3161690" cy="2422779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343275"/>
            <a:ext cx="2905658" cy="2162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语义检索（BGE-M3）理解用户表达，关键词匹配补充查找，再把更准确的标签排在前面。</a:t>
            </a:r>
          </a:p>
          <a:p>
            <a:pPr>
              <a:spcAft>
                <a:spcPts val="25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B77B00"/>
                </a:solidFill>
              </a:rPr>
              <a:t>关键实现</a:t>
            </a:r>
            <a:endParaRPr b="1">
              <a:solidFill>
                <a:srgbClr val="B77B00"/>
              </a:solidFill>
            </a:endParaRP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/>
              <a:t>难点：语义相近，口径未必一致</a:t>
            </a:r>
            <a:endParaRPr b="1"/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区间校验确保标签精确表达需求。跨桶并集必须严格等于目标区间，否则返回无法表达。</a:t>
            </a: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例如：“超过 100 万”不能替换为“100 万及以上”。</a:t>
            </a:r>
          </a:p>
        </p:txBody>
      </p:sp>
      <p:sp>
        <p:nvSpPr>
          <p:cNvPr id="13" name="Shape 11"/>
          <p:cNvSpPr/>
          <p:nvPr/>
        </p:nvSpPr>
        <p:spPr>
          <a:xfrm>
            <a:off x="4313834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15002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B. Agent 编排层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15002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tagpilot-agent 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15002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做什么</a:t>
            </a:r>
            <a:endParaRPr sz="880"/>
          </a:p>
        </p:txBody>
      </p:sp>
      <p:sp>
        <p:nvSpPr>
          <p:cNvPr id="18" name="Text 16"/>
          <p:cNvSpPr/>
          <p:nvPr/>
        </p:nvSpPr>
        <p:spPr>
          <a:xfrm>
            <a:off x="4515002" y="2390775"/>
            <a:ext cx="3161690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将用户需求转化为客群圈选方案，</a:t>
            </a:r>
            <a:endParaRPr sz="1700"/>
          </a:p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支持校验、确认和执行。</a:t>
            </a:r>
            <a:endParaRPr sz="1700"/>
          </a:p>
        </p:txBody>
      </p:sp>
      <p:sp>
        <p:nvSpPr>
          <p:cNvPr id="19" name="Text 17"/>
          <p:cNvSpPr/>
          <p:nvPr/>
        </p:nvSpPr>
        <p:spPr>
          <a:xfrm>
            <a:off x="4515002" y="2981325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用什么技术</a:t>
            </a:r>
            <a:endParaRPr sz="880"/>
          </a:p>
        </p:txBody>
      </p:sp>
      <p:sp>
        <p:nvSpPr>
          <p:cNvPr id="20" name="Shape 18"/>
          <p:cNvSpPr/>
          <p:nvPr/>
        </p:nvSpPr>
        <p:spPr>
          <a:xfrm>
            <a:off x="4515002" y="3209925"/>
            <a:ext cx="3161690" cy="2422779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3018" y="3343275"/>
            <a:ext cx="2905658" cy="2162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Claude Agent SDK 理解需求、调用工具，独立校验层检查方案和权限。</a:t>
            </a:r>
          </a:p>
          <a:p>
            <a:pPr>
              <a:spcAft>
                <a:spcPts val="25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B77B00"/>
                </a:solidFill>
              </a:rPr>
              <a:t>关键实现</a:t>
            </a:r>
            <a:endParaRPr b="1">
              <a:solidFill>
                <a:srgbClr val="B77B00"/>
              </a:solidFill>
            </a:endParaRP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/>
              <a:t>难点：生成方案可能出错或越权</a:t>
            </a:r>
            <a:endParaRPr b="1"/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工具调用、最终提交、手工编辑共用同一套校验规则，防止不同入口绕过约束。</a:t>
            </a: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已冻结条件在后续对话中保持不变。方案通过校验后，才能进入相应执行环节。</a:t>
            </a:r>
          </a:p>
        </p:txBody>
      </p:sp>
      <p:sp>
        <p:nvSpPr>
          <p:cNvPr id="22" name="Shape 20"/>
          <p:cNvSpPr/>
          <p:nvPr/>
        </p:nvSpPr>
        <p:spPr>
          <a:xfrm>
            <a:off x="8060741" y="1243584"/>
            <a:ext cx="3564026" cy="4663440"/>
          </a:xfrm>
          <a:prstGeom prst="roundRect">
            <a:avLst>
              <a:gd name="adj" fmla="val 153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61909" y="1426464"/>
            <a:ext cx="316169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C. 洞察 Skill 体系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61909" y="1737360"/>
            <a:ext cx="3161690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tagpilot-insight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61909" y="201168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61909" y="2176272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做什么</a:t>
            </a:r>
            <a:endParaRPr sz="880"/>
          </a:p>
        </p:txBody>
      </p:sp>
      <p:sp>
        <p:nvSpPr>
          <p:cNvPr id="27" name="Text 25"/>
          <p:cNvSpPr/>
          <p:nvPr/>
        </p:nvSpPr>
        <p:spPr>
          <a:xfrm>
            <a:off x="8261909" y="2390775"/>
            <a:ext cx="3161690" cy="495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基于客群统计生成可复核的洞察，</a:t>
            </a:r>
            <a:endParaRPr sz="1700"/>
          </a:p>
          <a:p>
            <a:pPr marL="0" indent="0" algn="l">
              <a:lnSpc>
                <a:spcPct val="120000"/>
              </a:lnSpc>
              <a:buNone/>
              <a:defRPr sz="1200" b="0"/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同时保护个体隐私。</a:t>
            </a:r>
            <a:endParaRPr sz="1700"/>
          </a:p>
        </p:txBody>
      </p:sp>
      <p:sp>
        <p:nvSpPr>
          <p:cNvPr id="28" name="Text 26"/>
          <p:cNvSpPr/>
          <p:nvPr/>
        </p:nvSpPr>
        <p:spPr>
          <a:xfrm>
            <a:off x="8261909" y="2981325"/>
            <a:ext cx="316169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80" b="1">
                <a:solidFill>
                  <a:srgbClr val="A87A10"/>
                </a:solidFill>
                <a:latin typeface="微软雅黑"/>
                <a:ea typeface="微软雅黑"/>
                <a:cs typeface="微软雅黑"/>
              </a:rPr>
              <a:t>用什么技术</a:t>
            </a:r>
            <a:endParaRPr sz="880"/>
          </a:p>
        </p:txBody>
      </p:sp>
      <p:sp>
        <p:nvSpPr>
          <p:cNvPr id="29" name="Shape 27"/>
          <p:cNvSpPr/>
          <p:nvPr/>
        </p:nvSpPr>
        <p:spPr>
          <a:xfrm>
            <a:off x="8261909" y="3209925"/>
            <a:ext cx="3161690" cy="2422779"/>
          </a:xfrm>
          <a:prstGeom prst="roundRect">
            <a:avLst>
              <a:gd name="adj" fmla="val 2174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89925" y="3343275"/>
            <a:ext cx="2905658" cy="2162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配置清单（YAML）统一分析口径，测试样例检查逻辑，版本校验便于追溯，事实登记表提供数据。</a:t>
            </a:r>
          </a:p>
          <a:p>
            <a:pPr>
              <a:spcAft>
                <a:spcPts val="25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>
                <a:solidFill>
                  <a:srgbClr val="B77B00"/>
                </a:solidFill>
              </a:rPr>
              <a:t>关键实现</a:t>
            </a:r>
            <a:endParaRPr b="1">
              <a:solidFill>
                <a:srgbClr val="B77B00"/>
              </a:solidFill>
            </a:endParaRP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rPr b="1"/>
              <a:t>难点：结论可复核，个体不暴露</a:t>
            </a:r>
            <a:endParaRPr b="1"/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Guard 独立重算 Wilson 置信区间，核对统计结论依据。</a:t>
            </a: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任一分格少于 20 人时，整组结果不展示。</a:t>
            </a:r>
          </a:p>
          <a:p>
            <a:pPr>
              <a:spcAft>
                <a:spcPts val="300"/>
              </a:spcAft>
              <a:defRPr sz="1200" b="0">
                <a:solidFill>
                  <a:srgbClr val="2C2115"/>
                </a:solidFill>
                <a:latin typeface="微软雅黑"/>
                <a:ea typeface="微软雅黑"/>
                <a:cs typeface="微软雅黑"/>
              </a:defRPr>
            </a:pPr>
            <a:r>
              <a:t>防止通过其他分格反推个体信息。</a:t>
            </a:r>
          </a:p>
        </p:txBody>
      </p:sp>
      <p:sp>
        <p:nvSpPr>
          <p:cNvPr id="31" name="Text 29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buNone/>
            </a:pPr>
            <a:r>
              <a:rPr sz="850">
                <a:solidFill>
                  <a:srgbClr val="96897B"/>
                </a:solidFill>
                <a:latin typeface="微软雅黑"/>
                <a:ea typeface="微软雅黑"/>
                <a:cs typeface="微软雅黑"/>
              </a:rPr>
              <a:t>实现重点：检索口径精确匹配，方案与权限统一校验，统计结论独立复核。</a:t>
            </a:r>
            <a:endParaRPr sz="850"/>
          </a:p>
        </p:txBody>
      </p:sp>
      <p:sp>
        <p:nvSpPr>
          <p:cNvPr id="32" name="Text 3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 · 可控生成机制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五道闸门，让 </a:t>
            </a:r>
            <a:r>
              <a:rPr lang="en-US" altLang="zh-CN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“</a:t>
            </a: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会思考，但不能乱执行”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61872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08176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3584" y="1389888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08176" y="1371600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每个条件，都必须“有据可查”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08176" y="1645920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每个圈选条件必须绑定语义检索证据，模型不能凭空创造标签或业务口径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566928" y="2249424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395728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43584" y="2377440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08176" y="2359152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模型只生成结构化条件，不直接给结论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408176" y="2633472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输出统一转换为标准条件树，并执行层级、逻辑关系、唯一标识等结构校验；不合规结果直接拦截。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66928" y="3236976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383280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43584" y="3364992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176" y="3346704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五维 </a:t>
            </a:r>
            <a:r>
              <a:rPr lang="en-US" altLang="zh-CN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Guard，</a:t>
            </a: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逐项做确定性校验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408176" y="3621024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围绕来源、数值、时间、冻结条件、需求覆盖五个维度逐项检查，关键规则不交给模型自行判断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566928" y="4224528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370832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43584" y="4352544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08176" y="4334256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每次使用，都重新校验权限与资格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408176" y="4608576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标签资格实时计算；无权限、未发布、已失效标签无法进入最终方案，历史结果也不能绕过当前规则。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66928" y="5212080"/>
            <a:ext cx="6967728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31520" y="5358384"/>
            <a:ext cx="42062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43584" y="5340096"/>
            <a:ext cx="0" cy="64008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08176" y="5321808"/>
            <a:ext cx="5943600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默认“不自动执行”，最终动作由人确认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08176" y="5596128"/>
            <a:ext cx="59436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20"/>
              </a:lnSpc>
              <a:buNone/>
            </a:pPr>
            <a:r>
              <a:rPr lang="en-US" altLang="zh-CN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只生成待确认的客群方案，不直接执行 </a:t>
            </a:r>
            <a:r>
              <a:rPr lang="en-US" altLang="zh-CN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SQL；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真正建群仍由现有 </a:t>
            </a:r>
            <a:r>
              <a:rPr lang="en-US" altLang="zh-CN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模块和人工确认完成。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808976" y="1261872"/>
            <a:ext cx="3815791" cy="4846320"/>
          </a:xfrm>
          <a:prstGeom prst="roundRect">
            <a:avLst>
              <a:gd name="adj" fmla="val 1438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010144" y="1426464"/>
            <a:ext cx="3413455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五道闸门之后的实测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010144" y="1755648"/>
            <a:ext cx="3413455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10144" y="19385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8010144" y="23408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幻觉标签引用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8010144" y="28529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1200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010144" y="32552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越权或未发布标签引用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8010144" y="3767328"/>
            <a:ext cx="3413455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600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010144" y="4169664"/>
            <a:ext cx="3413455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错误自动执行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8010144" y="4773168"/>
            <a:ext cx="3413455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10144" y="4882896"/>
            <a:ext cx="3413455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2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这三个“0”意味着什么？</a:t>
            </a:r>
            <a:endParaRPr lang="zh-CN" altLang="en-US" sz="920" b="1" dirty="0">
              <a:solidFill>
                <a:srgbClr val="A87A10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010144" y="5102352"/>
            <a:ext cx="3413455" cy="87782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zh-CN" altLang="en-US" sz="88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在封存测试集中，系统未出现幻觉标签、越权标签或错误自动执行。即使模型判断出错，也会被确定性规则拦截，而不是直接进入生产动作。</a:t>
            </a:r>
            <a:endParaRPr lang="zh-CN" altLang="en-US" sz="880" dirty="0">
              <a:solidFill>
                <a:srgbClr val="96897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 · 效果验证与测试数据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五类用例通过，配置优化提升召回覆盖率并降低响应时延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6928" y="1207008"/>
            <a:ext cx="649224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测试用例（正常 / 边界 / 异常 / 澄清）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5544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用例1｜正常需求</a:t>
            </a:r>
            <a:endParaRPr lang="zh-CN" altLang="en-US" sz="96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029968" y="1527048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「上月借记卡消费金额至少 0」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命中标签，标记待人工确认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6016752" y="169164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16752" y="169164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566928" y="2249424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2340864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用例2｜边界口径</a:t>
            </a:r>
            <a:endParaRPr lang="zh-CN" altLang="en-US" sz="96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29968" y="2313432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「超过 100 万」</a:t>
            </a:r>
            <a:r>
              <a:rPr lang="zh-CN" alt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无精确表达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拒绝近似替换，提示无法表达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016752" y="247802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16752" y="2478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566928" y="3035808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9808" y="3127248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用例3｜异常权限</a:t>
            </a:r>
            <a:endParaRPr lang="zh-CN" altLang="en-US" sz="96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029968" y="3099816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引用资格外或未发布标签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返回 </a:t>
            </a:r>
            <a:r>
              <a:rPr lang="en-US" altLang="zh-CN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INELIGIBLE_TAG，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拒绝该条件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016752" y="326440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16752" y="326440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66928" y="3822192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DFBF7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" y="3913632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用例4｜信息缺失</a:t>
            </a:r>
            <a:endParaRPr lang="zh-CN" altLang="en-US" sz="96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029968" y="3886200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「高净值客户」未给阈值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请求补充条件，避免自行推断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，最多 3 问</a:t>
            </a:r>
            <a:endParaRPr lang="en-US" sz="960" dirty="0"/>
          </a:p>
        </p:txBody>
      </p:sp>
      <p:sp>
        <p:nvSpPr>
          <p:cNvPr id="23" name="Shape 21"/>
          <p:cNvSpPr/>
          <p:nvPr/>
        </p:nvSpPr>
        <p:spPr>
          <a:xfrm>
            <a:off x="6016752" y="405079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16752" y="4050792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566928" y="4608576"/>
            <a:ext cx="64922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" y="470001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用例5｜未知码值</a:t>
            </a:r>
            <a:endParaRPr lang="zh-CN" altLang="en-US" sz="96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2029968" y="4672584"/>
            <a:ext cx="3803904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96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负向条件命中「未知」桶</a:t>
            </a:r>
            <a:r>
              <a:rPr 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</a:t>
            </a:r>
            <a:r>
              <a:rPr lang="zh-CN" altLang="en-US" sz="9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强制明确未知值处理方式，避免漏选误选</a:t>
            </a:r>
            <a:endParaRPr lang="zh-CN" altLang="en-US" sz="9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016752" y="483717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BF3DE"/>
          </a:solidFill>
          <a:ln w="12700">
            <a:solidFill>
              <a:srgbClr val="FBF3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6752" y="4837176"/>
            <a:ext cx="8595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7333488" y="1207008"/>
            <a:ext cx="4291279" cy="4041648"/>
          </a:xfrm>
          <a:prstGeom prst="roundRect">
            <a:avLst>
              <a:gd name="adj" fmla="val 1357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534656" y="1335024"/>
            <a:ext cx="3888943" cy="25603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量化效果对比</a:t>
            </a:r>
            <a:endParaRPr lang="zh-CN" altLang="en-US" sz="12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534656" y="1645920"/>
            <a:ext cx="3888943" cy="0"/>
          </a:xfrm>
          <a:prstGeom prst="line">
            <a:avLst/>
          </a:prstGeom>
          <a:noFill/>
          <a:ln w="12700">
            <a:solidFill>
              <a:srgbClr val="F0D6B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34656" y="1773936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 复杂圈选：人工逐步查找，</a:t>
            </a:r>
            <a:r>
              <a:rPr lang="en-US" altLang="zh-CN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辅助生成方案</a:t>
            </a:r>
            <a:endParaRPr lang="zh-CN" altLang="en-US" sz="14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534656" y="2084578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人工：找标签、核口径、组条件，约 0.5～1 天。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180"/>
              </a:lnSpc>
              <a:buNone/>
            </a:pP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</a:t>
            </a: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辅助：自动匹配标签、校验条件并生成待确认方案，系统 </a:t>
            </a: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p95 </a:t>
            </a: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响应时延 18.3 秒。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534656" y="2615184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 深度分析：人工整理分析，</a:t>
            </a:r>
            <a:r>
              <a:rPr lang="en-US" altLang="zh-CN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辅助形成洞察</a:t>
            </a:r>
            <a:endParaRPr lang="zh-CN" altLang="en-US" sz="14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534910" y="2926080"/>
            <a:ext cx="3888740" cy="5308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人工：核对指标、分析差异、整理结论，约 1～2 天。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180"/>
              </a:lnSpc>
              <a:buNone/>
            </a:pP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</a:t>
            </a: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辅助：汇总客群统计、生成洞察并复核数值依据，完整分析耗时待实测。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534656" y="3456432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 高频任务：人工重复操作，</a:t>
            </a:r>
            <a:r>
              <a:rPr lang="en-US" altLang="zh-CN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辅助完成</a:t>
            </a:r>
            <a:endParaRPr lang="zh-CN" altLang="en-US" sz="14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534656" y="3767709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人工：每人每月约 20 次圈选与分析，反复查标签、核口径、组条件。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180"/>
              </a:lnSpc>
              <a:buNone/>
            </a:pP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</a:t>
            </a: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辅助：通过自然语言发起需求，自动完成标签匹配与方案草拟，人员集中确认关键口径和结果。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534656" y="4297680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 结果校验：人工逐项核查，</a:t>
            </a:r>
            <a:r>
              <a:rPr lang="en-US" altLang="zh-CN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</a:t>
            </a:r>
            <a:r>
              <a:rPr lang="zh-CN" altLang="en-US" sz="1400" b="1" dirty="0">
                <a:solidFill>
                  <a:srgbClr val="C25A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执行统一规则</a:t>
            </a:r>
            <a:endParaRPr lang="zh-CN" altLang="en-US" sz="1400" b="1" dirty="0">
              <a:solidFill>
                <a:srgbClr val="C25A0E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534656" y="4608957"/>
            <a:ext cx="3888943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人工：逐项检查阈值边界、标签权限和未知值处理。</a:t>
            </a:r>
            <a:endParaRPr lang="zh-CN" altLang="en-US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  <a:p>
            <a:pPr marL="0" indent="0" algn="l">
              <a:lnSpc>
                <a:spcPts val="1180"/>
              </a:lnSpc>
              <a:buNone/>
            </a:pP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</a:t>
            </a:r>
            <a:r>
              <a:rPr lang="zh-CN" alt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辅助：自动拦截不合规条件</a:t>
            </a:r>
            <a:r>
              <a:rPr lang="en-US" altLang="zh-CN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</a:t>
            </a:r>
            <a:endParaRPr lang="en-US" altLang="zh-CN" sz="86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 · Demo 演示 / 效果展示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分钟，从一句话到可建群的客群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4944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0:00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94944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30″</a:t>
            </a:r>
            <a:endParaRPr lang="en-US" sz="760" dirty="0"/>
          </a:p>
        </p:txBody>
      </p:sp>
      <p:sp>
        <p:nvSpPr>
          <p:cNvPr id="7" name="Text 5"/>
          <p:cNvSpPr/>
          <p:nvPr/>
        </p:nvSpPr>
        <p:spPr>
          <a:xfrm>
            <a:off x="694944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进入工作台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对象群列表点「继续圈选」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323033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428189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56205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0:30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556205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50″</a:t>
            </a:r>
            <a:endParaRPr lang="en-US" sz="760" dirty="0"/>
          </a:p>
        </p:txBody>
      </p:sp>
      <p:sp>
        <p:nvSpPr>
          <p:cNvPr id="13" name="Text 11"/>
          <p:cNvSpPr/>
          <p:nvPr/>
        </p:nvSpPr>
        <p:spPr>
          <a:xfrm>
            <a:off x="2556205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一句话输入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556205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描述客群 + 勾选 ≤5 个上下文标签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4184294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289450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17466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1:20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17466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60″</a:t>
            </a:r>
            <a:endParaRPr lang="en-US" sz="760" dirty="0"/>
          </a:p>
        </p:txBody>
      </p:sp>
      <p:sp>
        <p:nvSpPr>
          <p:cNvPr id="19" name="Text 17"/>
          <p:cNvSpPr/>
          <p:nvPr/>
        </p:nvSpPr>
        <p:spPr>
          <a:xfrm>
            <a:off x="4417466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澄清收敛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17466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回答 2–3 个口径问题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6045556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150712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78728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2:20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278728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6278728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人数统计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78728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Java 编译规则 SQL，出人数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906817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011973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139989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3:00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139989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40″</a:t>
            </a:r>
            <a:endParaRPr lang="en-US" sz="760" dirty="0"/>
          </a:p>
        </p:txBody>
      </p:sp>
      <p:sp>
        <p:nvSpPr>
          <p:cNvPr id="31" name="Text 29"/>
          <p:cNvSpPr/>
          <p:nvPr/>
        </p:nvSpPr>
        <p:spPr>
          <a:xfrm>
            <a:off x="8139989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确认建群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139989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写回对象群列表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768078" y="1810512"/>
            <a:ext cx="100584" cy="0"/>
          </a:xfrm>
          <a:prstGeom prst="line">
            <a:avLst/>
          </a:prstGeom>
          <a:noFill/>
          <a:ln w="15240">
            <a:solidFill>
              <a:srgbClr val="E476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873234" y="1280160"/>
            <a:ext cx="1751533" cy="1060704"/>
          </a:xfrm>
          <a:prstGeom prst="roundRect">
            <a:avLst>
              <a:gd name="adj" fmla="val 5172"/>
            </a:avLst>
          </a:prstGeom>
          <a:solidFill>
            <a:srgbClr val="FCEEE0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001250" y="1335024"/>
            <a:ext cx="1495501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3:40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0001250" y="1572768"/>
            <a:ext cx="1495501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6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时长 80″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10001250" y="1773936"/>
            <a:ext cx="1495501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洞察包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0001250" y="2011680"/>
            <a:ext cx="1495501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五段卡 + 图表，导出 SVG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566928" y="2505456"/>
            <a:ext cx="5437480" cy="3529584"/>
          </a:xfrm>
          <a:prstGeom prst="roundRect">
            <a:avLst>
              <a:gd name="adj" fmla="val 155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41" name="Text 38"/>
          <p:cNvSpPr/>
          <p:nvPr/>
        </p:nvSpPr>
        <p:spPr>
          <a:xfrm>
            <a:off x="749808" y="5413248"/>
            <a:ext cx="5071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圈选工作台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49808" y="5650992"/>
            <a:ext cx="507172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左侧自然语言对话，右侧「圈选方案 / 洞察」双栏；顶部实时显示「条件已核验」。</a:t>
            </a:r>
            <a:endParaRPr lang="en-US" sz="860" dirty="0"/>
          </a:p>
        </p:txBody>
      </p:sp>
      <p:sp>
        <p:nvSpPr>
          <p:cNvPr id="43" name="Shape 40"/>
          <p:cNvSpPr/>
          <p:nvPr/>
        </p:nvSpPr>
        <p:spPr>
          <a:xfrm>
            <a:off x="6187288" y="2505456"/>
            <a:ext cx="5437480" cy="3529584"/>
          </a:xfrm>
          <a:prstGeom prst="roundRect">
            <a:avLst>
              <a:gd name="adj" fmla="val 155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pic>
        <p:nvPicPr>
          <p:cNvPr id="44" name="Image 1" descr=".pptx-build/assets/shot-insigh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7016" y="2615184"/>
            <a:ext cx="5218024" cy="269748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6370168" y="5413248"/>
            <a:ext cx="507172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洞察报告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6370168" y="5650992"/>
            <a:ext cx="507172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0"/>
              </a:lnSpc>
              <a:buNone/>
            </a:pPr>
            <a:r>
              <a:rPr lang="en-US" sz="86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五段结构（事实 / 对比 / 诊断·规则 / 行动 / 证据与边界）+ KPI 与图表，逐图可导出。</a:t>
            </a:r>
            <a:endParaRPr lang="en-US" sz="860" dirty="0"/>
          </a:p>
        </p:txBody>
      </p:sp>
      <p:sp>
        <p:nvSpPr>
          <p:cNvPr id="47" name="Text 4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900" dirty="0"/>
          </a:p>
        </p:txBody>
      </p:sp>
      <p:pic>
        <p:nvPicPr>
          <p:cNvPr id="49" name="图片 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" y="2613660"/>
            <a:ext cx="5280660" cy="26993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· 工程化与落地可行性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复用业务底座，逐步建成可控的智能工作台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+ 4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749808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在既有平台上增建智能能力</a:t>
            </a:r>
            <a:endParaRPr lang="zh-CN" altLang="en-US" sz="10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49808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zh-CN" alt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从数据接入、标签管理和客群圈选出发，逐步增加语义检索、</a:t>
            </a:r>
            <a:r>
              <a:rPr lang="en-US" altLang="zh-CN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编排、洞察与评测模块，将智能能力接入原有业务流程。</a:t>
            </a:r>
            <a:endParaRPr lang="zh-CN" altLang="en-US" sz="84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72536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55416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 张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3555416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用统一数据基础连接业务流程</a:t>
            </a:r>
            <a:endParaRPr lang="zh-CN" altLang="en-US" sz="10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555416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zh-CN" alt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围绕数据源、标签口径和客群规则组织数据，通过增量迁移持续演进，支撑标签检索、方案生成与结果追溯。</a:t>
            </a:r>
            <a:endParaRPr lang="zh-CN" altLang="en-US" sz="84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178144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61024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 项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360795" y="1755775"/>
            <a:ext cx="2275205" cy="21971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用自动化测试验证每轮改进</a:t>
            </a:r>
            <a:endParaRPr lang="zh-CN" altLang="en-US" sz="10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61024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zh-CN" alt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覆盖后端规则、智能体逻辑与前端交互，将日期解析、澄清恢复、条件确认等实际遇到的问题纳入回归验证。</a:t>
            </a:r>
            <a:endParaRPr lang="zh-CN" altLang="en-US" sz="84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983751" y="1243584"/>
            <a:ext cx="2641016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66631" y="1353312"/>
            <a:ext cx="2275256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条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9166631" y="1755648"/>
            <a:ext cx="227525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部署流水线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166631" y="1993392"/>
            <a:ext cx="2275256" cy="658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40"/>
              </a:lnSpc>
              <a:buNone/>
            </a:pPr>
            <a:r>
              <a:rPr lang="en-US" sz="84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 → 增量迁移 → 发布 → 健康检查 / 回滚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566928" y="292608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15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三类落地难题，逐项建立保障机制</a:t>
            </a:r>
            <a:endParaRPr lang="zh-CN" altLang="en-US" sz="115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66928" y="3218688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3310128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模型不可用或超时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767328" y="3346704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0208" y="3328416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运行记录定位问题，设置无进展退出与分级降级。保留已校验条件和可编辑草稿，明确提示未完成部分，支持补充信息后继续处理</a:t>
            </a:r>
            <a:r>
              <a:rPr 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187952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68096" y="4279392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zh-CN" alt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权限变化或方案越界</a:t>
            </a:r>
            <a:endParaRPr lang="zh-CN" altLang="en-US" sz="115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767328" y="4315968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50208" y="4297680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由业务系统掌握权限与执行入口，每次检索重新核验标签资格。工具调用、方案提交和手工编辑共用校验规则，已确认条件在续跑中保持约束。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66928" y="5157216"/>
            <a:ext cx="11057839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68096" y="5248656"/>
            <a:ext cx="2834640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altLang="zh-CN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 </a:t>
            </a:r>
            <a:r>
              <a:rPr lang="zh-CN" altLang="en-US" sz="115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技术栈取舍：从固定流程到自主探索</a:t>
            </a:r>
            <a:endParaRPr lang="zh-CN" altLang="en-US" sz="1150" b="1" dirty="0">
              <a:solidFill>
                <a:srgbClr val="C25A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3767328" y="5285232"/>
            <a:ext cx="0" cy="621792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0208" y="5266944"/>
            <a:ext cx="7455103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400"/>
              </a:lnSpc>
              <a:buNone/>
            </a:pP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早期基于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LangChain、LangGraph 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预设任务流程，便于控制步骤，但复杂需求往往需要反复补充分支。后续转向 </a:t>
            </a:r>
            <a:r>
              <a:rPr lang="en-US" altLang="zh-CN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Claude Agent SDK，</a:t>
            </a:r>
            <a:r>
              <a:rPr lang="zh-CN" altLang="en-US" sz="100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让模型自主规划任务、选择工具，并根据结果调整策略。同时，将口径校验、权限控制和执行确认交给独立规则层，在发挥模型能力的同时，守住业务边界。</a:t>
            </a:r>
            <a:endParaRPr lang="zh-CN" altLang="en-US" sz="1000" dirty="0">
              <a:solidFill>
                <a:srgbClr val="5B4F43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· 后续计划与团队分工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从「本地已验证」推到「生产可验收」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68096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短期 · 1–2 个月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68096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47088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0704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完成整链验收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60704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Java 迁移 + 真实 MySQL + 已认证 HTTP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68096" y="2432304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60704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发布首批洞察技能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0704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登记真实指标绑定（当前 3 个技能均为 DRAFT）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768096" y="3017520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0704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补齐</a:t>
            </a: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</a:t>
            </a: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</a:t>
            </a:r>
            <a:endParaRPr lang="zh-CN" altLang="en-US" sz="10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60704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AudienceQueryDSL 规范、与原系统的接口清单</a:t>
            </a:r>
            <a:endParaRPr lang="en-US" sz="820" dirty="0"/>
          </a:p>
        </p:txBody>
      </p:sp>
      <p:sp>
        <p:nvSpPr>
          <p:cNvPr id="19" name="Shape 17"/>
          <p:cNvSpPr/>
          <p:nvPr/>
        </p:nvSpPr>
        <p:spPr>
          <a:xfrm>
            <a:off x="768096" y="3602736"/>
            <a:ext cx="201168" cy="201168"/>
          </a:xfrm>
          <a:prstGeom prst="ellipse">
            <a:avLst/>
          </a:prstGeom>
          <a:solidFill>
            <a:srgbClr val="C25A0E"/>
          </a:solidFill>
          <a:ln w="12700">
            <a:solidFill>
              <a:srgbClr val="C25A0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0704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工作台管理页视觉验收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补一次真实页面验收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4313834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15002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87A1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中期 · 3–6 个月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15002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15002" y="1847088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15002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7610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标签规模扩到行内实际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7610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969 → 2,828（脱敏全量）→ 3,396（行内实际）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4515002" y="2432304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15002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07610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线上反馈自动回灌评测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07610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当前该环节未自动化，反馈未进评测包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4515002" y="3017520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15002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07610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补齐稳定性复跑与容量压测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7610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计划 300 次，实际完成 42 次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4515002" y="3602736"/>
            <a:ext cx="201168" cy="201168"/>
          </a:xfrm>
          <a:prstGeom prst="ellipse">
            <a:avLst/>
          </a:prstGeom>
          <a:solidFill>
            <a:srgbClr val="A87A10"/>
          </a:solidFill>
          <a:ln w="12700">
            <a:solidFill>
              <a:srgbClr val="A87A1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15002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807610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根因簇扩到 20 个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07610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并重跑 P2 全量 L2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8060741" y="1243584"/>
            <a:ext cx="3564026" cy="2999232"/>
          </a:xfrm>
          <a:prstGeom prst="roundRect">
            <a:avLst>
              <a:gd name="adj" fmla="val 1829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8261909" y="1353312"/>
            <a:ext cx="31616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长期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61909" y="1700784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61909" y="1847088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61909" y="1847088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54517" y="1828800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接入行内客群 / 营销系统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4517" y="2048256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把「评测门禁 → 复核 → 发布」固化为常规流程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8261909" y="2432304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61909" y="2432304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54517" y="2414016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</a:t>
            </a: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行内专家</a:t>
            </a: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</a:t>
            </a:r>
            <a:r>
              <a:rPr lang="zh-CN" alt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复核</a:t>
            </a:r>
            <a:endParaRPr lang="zh-CN" altLang="en-US" sz="10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8554517" y="2633472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 human_bank_signoff = false</a:t>
            </a:r>
            <a:endParaRPr lang="en-US" sz="820" dirty="0"/>
          </a:p>
        </p:txBody>
      </p:sp>
      <p:sp>
        <p:nvSpPr>
          <p:cNvPr id="53" name="Shape 51"/>
          <p:cNvSpPr/>
          <p:nvPr/>
        </p:nvSpPr>
        <p:spPr>
          <a:xfrm>
            <a:off x="8261909" y="3017520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61909" y="3017520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554517" y="2999232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沉淀可复用的语义层方法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554517" y="3218688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事实冻结 → 生成 → 诊断 → 受控变更 → 对照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8261909" y="3602736"/>
            <a:ext cx="201168" cy="201168"/>
          </a:xfrm>
          <a:prstGeom prst="ellipse">
            <a:avLst/>
          </a:prstGeom>
          <a:solidFill>
            <a:srgbClr val="5B4F43"/>
          </a:solidFill>
          <a:ln w="12700">
            <a:solidFill>
              <a:srgbClr val="5B4F4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61909" y="36027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554517" y="3584448"/>
            <a:ext cx="2850794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洞察技能扩到更多经营场景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554517" y="3803904"/>
            <a:ext cx="2850794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0"/>
              </a:lnSpc>
              <a:buNone/>
            </a:pPr>
            <a:r>
              <a:rPr lang="en-US" sz="82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 3 个，并补齐稳定性复跑</a:t>
            </a:r>
            <a:endParaRPr lang="en-US" sz="820" dirty="0"/>
          </a:p>
        </p:txBody>
      </p:sp>
      <p:sp>
        <p:nvSpPr>
          <p:cNvPr id="61" name="Shape 59"/>
          <p:cNvSpPr/>
          <p:nvPr/>
        </p:nvSpPr>
        <p:spPr>
          <a:xfrm>
            <a:off x="566928" y="4407408"/>
            <a:ext cx="11057839" cy="1371600"/>
          </a:xfrm>
          <a:prstGeom prst="roundRect">
            <a:avLst>
              <a:gd name="adj" fmla="val 3333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6384" y="449884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s团队分工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786384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932688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队长 / 业务负责</a:t>
            </a:r>
            <a:endParaRPr lang="en-US" sz="960" dirty="0"/>
          </a:p>
        </p:txBody>
      </p:sp>
      <p:sp>
        <p:nvSpPr>
          <p:cNvPr id="65" name="Text 63"/>
          <p:cNvSpPr/>
          <p:nvPr/>
        </p:nvSpPr>
        <p:spPr>
          <a:xfrm>
            <a:off x="932688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932688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业务场景定义、口径裁定、对外沟通、验收标准</a:t>
            </a:r>
            <a:endParaRPr lang="en-US" sz="820" dirty="0"/>
          </a:p>
        </p:txBody>
      </p:sp>
      <p:sp>
        <p:nvSpPr>
          <p:cNvPr id="67" name="Shape 65"/>
          <p:cNvSpPr/>
          <p:nvPr/>
        </p:nvSpPr>
        <p:spPr>
          <a:xfrm>
            <a:off x="4380890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527194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技术负责</a:t>
            </a:r>
            <a:endParaRPr lang="en-US" sz="960" dirty="0"/>
          </a:p>
        </p:txBody>
      </p:sp>
      <p:sp>
        <p:nvSpPr>
          <p:cNvPr id="69" name="Text 67"/>
          <p:cNvSpPr/>
          <p:nvPr/>
        </p:nvSpPr>
        <p:spPr>
          <a:xfrm>
            <a:off x="4527194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527194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语义检索与 Agent 编排、Guard 校验、工程化与部署</a:t>
            </a:r>
            <a:endParaRPr lang="en-US" sz="820" dirty="0"/>
          </a:p>
        </p:txBody>
      </p:sp>
      <p:sp>
        <p:nvSpPr>
          <p:cNvPr id="71" name="Shape 69"/>
          <p:cNvSpPr/>
          <p:nvPr/>
        </p:nvSpPr>
        <p:spPr>
          <a:xfrm>
            <a:off x="7975397" y="4773168"/>
            <a:ext cx="3429914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8121701" y="4846320"/>
            <a:ext cx="313730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60" b="1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 / 演示</a:t>
            </a:r>
            <a:endParaRPr lang="en-US" sz="960" dirty="0"/>
          </a:p>
        </p:txBody>
      </p:sp>
      <p:sp>
        <p:nvSpPr>
          <p:cNvPr id="73" name="Text 71"/>
          <p:cNvSpPr/>
          <p:nvPr/>
        </p:nvSpPr>
        <p:spPr>
          <a:xfrm>
            <a:off x="8121701" y="5065776"/>
            <a:ext cx="3137306" cy="2194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待填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8121701" y="5303520"/>
            <a:ext cx="3137306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2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交付文档、评测报告整理、路演材料与演示录制</a:t>
            </a:r>
            <a:endParaRPr lang="en-US" sz="820" dirty="0"/>
          </a:p>
        </p:txBody>
      </p:sp>
      <p:sp>
        <p:nvSpPr>
          <p:cNvPr id="75" name="Text 73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说明：队伍名称与成员姓名请在交付前替换本页与封面上的「待填」。计划项状态取自仓库自述缺口（docs/交付文档/README.md 等）。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kern="0" spc="160" dirty="0">
                <a:solidFill>
                  <a:srgbClr val="C25A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· 总结与价值回顾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智能圈选与洞察，助力精准客户经营</a:t>
            </a:r>
            <a:endParaRPr lang="zh-CN" altLang="en-US" sz="2600" b="1" dirty="0">
              <a:solidFill>
                <a:srgbClr val="2A1C0E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11057839" cy="859536"/>
          </a:xfrm>
          <a:prstGeom prst="roundRect">
            <a:avLst>
              <a:gd name="adj" fmla="val 6383"/>
            </a:avLst>
          </a:prstGeom>
          <a:solidFill>
            <a:srgbClr val="FCEEE0"/>
          </a:solidFill>
          <a:ln w="12700">
            <a:solidFill>
              <a:srgbClr val="F3D9BF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33502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975" b="1">
                <a:solidFill>
                  <a:srgbClr val="C25A0E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C25A0E"/>
                </a:solidFill>
                <a:latin typeface="微软雅黑"/>
                <a:ea typeface="微软雅黑"/>
                <a:cs typeface="微软雅黑"/>
              </a:rPr>
              <a:t>一句话回顾项目价值</a:t>
            </a:r>
            <a:endParaRPr sz="950"/>
          </a:p>
        </p:txBody>
      </p:sp>
      <p:sp>
        <p:nvSpPr>
          <p:cNvPr id="6" name="Text 4"/>
          <p:cNvSpPr/>
          <p:nvPr/>
        </p:nvSpPr>
        <p:spPr>
          <a:xfrm>
            <a:off x="804672" y="1536192"/>
            <a:ext cx="10582351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650"/>
              </a:lnSpc>
              <a:buNone/>
              <a:def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本项目面向行</a:t>
            </a:r>
            <a:r>
              <a:rPr lang="zh-CN"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内</a:t>
            </a: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客户经理</a:t>
            </a:r>
            <a:r>
              <a:rPr lang="zh-CN"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及分析人员</a:t>
            </a: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的客群圈选与经营分析需求，将查标签、核口径、组条件整合为智能辅助流程，让业务人员更便捷地形成客群方案与分析依据。</a:t>
            </a:r>
            <a:endParaRPr sz="1200" b="1">
              <a:solidFill>
                <a:srgbClr val="2A1C0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66928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68096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33856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降低使用门槛</a:t>
            </a:r>
            <a:endParaRPr sz="1250"/>
          </a:p>
        </p:txBody>
      </p:sp>
      <p:sp>
        <p:nvSpPr>
          <p:cNvPr id="11" name="Shape 9"/>
          <p:cNvSpPr/>
          <p:nvPr/>
        </p:nvSpPr>
        <p:spPr>
          <a:xfrm>
            <a:off x="768096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000375"/>
            <a:ext cx="316169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rPr>
              <a:t>更易上手</a:t>
            </a:r>
            <a:endParaRPr sz="2500"/>
          </a:p>
        </p:txBody>
      </p:sp>
      <p:sp>
        <p:nvSpPr>
          <p:cNvPr id="13" name="Text 11"/>
          <p:cNvSpPr/>
          <p:nvPr/>
        </p:nvSpPr>
        <p:spPr>
          <a:xfrm>
            <a:off x="768096" y="3495675"/>
            <a:ext cx="3161690" cy="219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rPr>
              <a:t>让业务人员直接表达需求</a:t>
            </a:r>
            <a:endParaRPr sz="880"/>
          </a:p>
        </p:txBody>
      </p:sp>
      <p:sp>
        <p:nvSpPr>
          <p:cNvPr id="14" name="Text 12"/>
          <p:cNvSpPr/>
          <p:nvPr/>
        </p:nvSpPr>
        <p:spPr>
          <a:xfrm>
            <a:off x="768096" y="3838575"/>
            <a:ext cx="3161690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2000"/>
              </a:lnSpc>
              <a:buNone/>
              <a:def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客户经理用熟悉的业务语言描述目标，系统辅助查找标签、组织筛选条件，减少在标签目录和规则配置之间反复查找的操作。</a:t>
            </a:r>
            <a:endParaRPr sz="960"/>
          </a:p>
        </p:txBody>
      </p:sp>
      <p:sp>
        <p:nvSpPr>
          <p:cNvPr id="15" name="Shape 13"/>
          <p:cNvSpPr/>
          <p:nvPr/>
        </p:nvSpPr>
        <p:spPr>
          <a:xfrm>
            <a:off x="4313834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15002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15002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80762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明确圈选依据</a:t>
            </a:r>
            <a:endParaRPr sz="1250"/>
          </a:p>
        </p:txBody>
      </p:sp>
      <p:sp>
        <p:nvSpPr>
          <p:cNvPr id="19" name="Shape 17"/>
          <p:cNvSpPr/>
          <p:nvPr/>
        </p:nvSpPr>
        <p:spPr>
          <a:xfrm>
            <a:off x="4515002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15002" y="3000375"/>
            <a:ext cx="316169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rPr>
              <a:t>有据可查</a:t>
            </a:r>
            <a:endParaRPr sz="2500"/>
          </a:p>
        </p:txBody>
      </p:sp>
      <p:sp>
        <p:nvSpPr>
          <p:cNvPr id="21" name="Text 19"/>
          <p:cNvSpPr/>
          <p:nvPr/>
        </p:nvSpPr>
        <p:spPr>
          <a:xfrm>
            <a:off x="4515002" y="3495675"/>
            <a:ext cx="3161690" cy="219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rPr>
              <a:t>让客户选择有据可查</a:t>
            </a:r>
            <a:endParaRPr sz="880"/>
          </a:p>
        </p:txBody>
      </p:sp>
      <p:sp>
        <p:nvSpPr>
          <p:cNvPr id="22" name="Text 20"/>
          <p:cNvSpPr/>
          <p:nvPr/>
        </p:nvSpPr>
        <p:spPr>
          <a:xfrm>
            <a:off x="4515002" y="3838575"/>
            <a:ext cx="3161690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2000"/>
              </a:lnSpc>
              <a:buNone/>
              <a:def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每项筛选条件都能核对业务口径，由客户经理确认和调整，减少阈值理解、条件遗漏造成的客群偏差，为后续营销提供清晰的客户范围。</a:t>
            </a:r>
            <a:endParaRPr sz="960"/>
          </a:p>
        </p:txBody>
      </p:sp>
      <p:sp>
        <p:nvSpPr>
          <p:cNvPr id="23" name="Shape 21"/>
          <p:cNvSpPr/>
          <p:nvPr/>
        </p:nvSpPr>
        <p:spPr>
          <a:xfrm>
            <a:off x="8060741" y="2286000"/>
            <a:ext cx="3564026" cy="2706624"/>
          </a:xfrm>
          <a:prstGeom prst="roundRect">
            <a:avLst>
              <a:gd name="adj" fmla="val 2027"/>
            </a:avLst>
          </a:prstGeom>
          <a:solidFill>
            <a:srgbClr val="FFFFFF"/>
          </a:solidFill>
          <a:ln w="12700">
            <a:solidFill>
              <a:srgbClr val="EDE4D8"/>
            </a:solidFill>
            <a:prstDash val="solid"/>
          </a:ln>
          <a:effectLst>
            <a:outerShdw blurRad="101600" dist="25400" dir="5400000" algn="bl" rotWithShape="0">
              <a:srgbClr val="C9B79E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261909" y="2414016"/>
            <a:ext cx="274320" cy="274320"/>
          </a:xfrm>
          <a:prstGeom prst="ellipse">
            <a:avLst/>
          </a:prstGeom>
          <a:solidFill>
            <a:srgbClr val="E4761B"/>
          </a:solidFill>
          <a:ln w="12700">
            <a:solidFill>
              <a:srgbClr val="E476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61909" y="24140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627669" y="2414016"/>
            <a:ext cx="279593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看清客群差异</a:t>
            </a:r>
            <a:endParaRPr sz="1250"/>
          </a:p>
        </p:txBody>
      </p:sp>
      <p:sp>
        <p:nvSpPr>
          <p:cNvPr id="27" name="Shape 25"/>
          <p:cNvSpPr/>
          <p:nvPr/>
        </p:nvSpPr>
        <p:spPr>
          <a:xfrm>
            <a:off x="8261909" y="2834640"/>
            <a:ext cx="3161690" cy="0"/>
          </a:xfrm>
          <a:prstGeom prst="line">
            <a:avLst/>
          </a:prstGeom>
          <a:noFill/>
          <a:ln w="12700">
            <a:solidFill>
              <a:srgbClr val="EDE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61909" y="3000375"/>
            <a:ext cx="3161690" cy="438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E8750D"/>
                </a:solidFill>
                <a:latin typeface="微软雅黑"/>
                <a:ea typeface="微软雅黑"/>
                <a:cs typeface="微软雅黑"/>
              </a:rPr>
              <a:t>更有方向</a:t>
            </a:r>
            <a:endParaRPr sz="2500"/>
          </a:p>
        </p:txBody>
      </p:sp>
      <p:sp>
        <p:nvSpPr>
          <p:cNvPr id="29" name="Text 27"/>
          <p:cNvSpPr/>
          <p:nvPr/>
        </p:nvSpPr>
        <p:spPr>
          <a:xfrm>
            <a:off x="8261909" y="3495675"/>
            <a:ext cx="3161690" cy="219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94877C"/>
                </a:solidFill>
                <a:latin typeface="微软雅黑"/>
                <a:ea typeface="微软雅黑"/>
                <a:cs typeface="微软雅黑"/>
              </a:rPr>
              <a:t>让经营决策更有方向</a:t>
            </a:r>
            <a:endParaRPr sz="880"/>
          </a:p>
        </p:txBody>
      </p:sp>
      <p:sp>
        <p:nvSpPr>
          <p:cNvPr id="30" name="Text 28"/>
          <p:cNvSpPr/>
          <p:nvPr/>
        </p:nvSpPr>
        <p:spPr>
          <a:xfrm>
            <a:off x="8261909" y="3838575"/>
            <a:ext cx="3161690" cy="1038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22000"/>
              </a:lnSpc>
              <a:buNone/>
              <a:def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2A1C0E"/>
                </a:solidFill>
                <a:latin typeface="微软雅黑"/>
                <a:ea typeface="微软雅黑"/>
                <a:cs typeface="微软雅黑"/>
              </a:rPr>
              <a:t>围绕客群特征与指标差异提供分析依据，辅助回答“重点关注谁、客群差异在哪里”，为客户分层、营销策略和服务安排提供参考。</a:t>
            </a:r>
            <a:endParaRPr sz="960"/>
          </a:p>
        </p:txBody>
      </p:sp>
      <p:sp>
        <p:nvSpPr>
          <p:cNvPr id="31" name="Shape 29"/>
          <p:cNvSpPr/>
          <p:nvPr/>
        </p:nvSpPr>
        <p:spPr>
          <a:xfrm>
            <a:off x="566928" y="5193792"/>
            <a:ext cx="11057839" cy="822960"/>
          </a:xfrm>
          <a:prstGeom prst="roundRect">
            <a:avLst>
              <a:gd name="adj" fmla="val 5556"/>
            </a:avLst>
          </a:prstGeom>
          <a:solidFill>
            <a:srgbClr val="F6F3EE"/>
          </a:solidFill>
          <a:ln w="12700">
            <a:solidFill>
              <a:srgbClr val="EDE4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8096" y="5266944"/>
            <a:ext cx="1065550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  <a:defRPr sz="975" b="1">
                <a:solidFill>
                  <a:srgbClr val="B77B00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1">
                <a:solidFill>
                  <a:srgbClr val="B77B00"/>
                </a:solidFill>
                <a:latin typeface="微软雅黑"/>
                <a:ea typeface="微软雅黑"/>
                <a:cs typeface="微软雅黑"/>
              </a:rPr>
              <a:t>验证进展与下一步</a:t>
            </a:r>
            <a:endParaRPr sz="880"/>
          </a:p>
        </p:txBody>
      </p:sp>
      <p:sp>
        <p:nvSpPr>
          <p:cNvPr id="33" name="Text 31"/>
          <p:cNvSpPr/>
          <p:nvPr/>
        </p:nvSpPr>
        <p:spPr>
          <a:xfrm>
            <a:off x="768096" y="5524500"/>
            <a:ext cx="10655503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ts val="1220"/>
              </a:lnSpc>
              <a:buNone/>
              <a:defRPr sz="1275" b="0">
                <a:solidFill>
                  <a:srgbClr val="665C51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5C51"/>
                </a:solidFill>
                <a:latin typeface="微软雅黑"/>
                <a:ea typeface="微软雅黑"/>
                <a:cs typeface="微软雅黑"/>
              </a:rPr>
              <a:t>当前成果已完成本地实现与合成数据验证，实际节时效果及经营成效仍需在业务试点中检验。</a:t>
            </a:r>
            <a:endParaRPr sz="860"/>
          </a:p>
        </p:txBody>
      </p:sp>
      <p:sp>
        <p:nvSpPr>
          <p:cNvPr id="34" name="Text 32"/>
          <p:cNvSpPr/>
          <p:nvPr/>
        </p:nvSpPr>
        <p:spPr>
          <a:xfrm>
            <a:off x="566928" y="6345936"/>
            <a:ext cx="10143439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endParaRPr sz="850"/>
          </a:p>
        </p:txBody>
      </p:sp>
      <p:sp>
        <p:nvSpPr>
          <p:cNvPr id="35" name="Text 33"/>
          <p:cNvSpPr/>
          <p:nvPr/>
        </p:nvSpPr>
        <p:spPr>
          <a:xfrm>
            <a:off x="10801807" y="634593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pptx-build/assets/hero-dis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17320"/>
            <a:ext cx="5669280" cy="5669280"/>
          </a:xfrm>
          <a:prstGeom prst="rect">
            <a:avLst/>
          </a:prstGeom>
        </p:spPr>
      </p:pic>
      <p:pic>
        <p:nvPicPr>
          <p:cNvPr id="3" name="Image 1" descr=".pptx-build/assets/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75488"/>
            <a:ext cx="612648" cy="65836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16736" y="53035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TagPilot</a:t>
            </a:r>
            <a:endParaRPr lang="en-US" sz="1900" dirty="0"/>
          </a:p>
        </p:txBody>
      </p:sp>
      <p:sp>
        <p:nvSpPr>
          <p:cNvPr id="5" name="Text 1"/>
          <p:cNvSpPr/>
          <p:nvPr/>
        </p:nvSpPr>
        <p:spPr>
          <a:xfrm>
            <a:off x="566928" y="2331720"/>
            <a:ext cx="731520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E476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 &amp; A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566928" y="3072384"/>
            <a:ext cx="7315200" cy="4937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A1C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感谢聆听，欢迎提问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566928" y="3712464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2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“圈”力觉醒</a:t>
            </a:r>
            <a:r>
              <a:rPr lang="en-US" sz="1250" dirty="0">
                <a:solidFill>
                  <a:srgbClr val="5B4F4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战队 · 客群圈选与洞察场景下的标签智能体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4224528"/>
            <a:ext cx="3931920" cy="0"/>
          </a:xfrm>
          <a:prstGeom prst="line">
            <a:avLst/>
          </a:prstGeom>
          <a:noFill/>
          <a:ln w="12700">
            <a:solidFill>
              <a:srgbClr val="E0D3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4370832"/>
            <a:ext cx="6949440" cy="51206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9689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一个可以现场验证的请求：请任给一句中文客户描述，我们现场跑一遍完整链路。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66928" y="504748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6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2026-09-30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5507</Words>
  <Application>WPS 演示</Application>
  <PresentationFormat>On-screen Show (16:9)</PresentationFormat>
  <Paragraphs>605</Paragraphs>
  <Slides>13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32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Cambria</vt:lpstr>
      <vt:lpstr>Cambria</vt:lpstr>
      <vt:lpstr>Cambria</vt:lpstr>
      <vt:lpstr>微软雅黑</vt:lpstr>
      <vt:lpstr>Calibri</vt:lpstr>
      <vt:lpstr>Helvetica Neue</vt:lpstr>
      <vt:lpstr>苹方-简</vt:lpstr>
      <vt:lpstr>宋体</vt:lpstr>
      <vt:lpstr>Arial Unicode MS</vt:lpstr>
      <vt:lpstr>宋体-简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TagPilot 战队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TagPilot — 客群圈选与洞察场景下的标签智能体</dc:title>
  <dc:creator>TagPilot 战队</dc:creator>
  <dc:subject>2026 智能体挑战赛 路演</dc:subject>
  <cp:lastModifiedBy>zhenshan Wei</cp:lastModifiedBy>
  <cp:revision>117</cp:revision>
  <dcterms:created xsi:type="dcterms:W3CDTF">2026-09-30T07:57:11Z</dcterms:created>
  <dcterms:modified xsi:type="dcterms:W3CDTF">2026-09-30T07:57:11Z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114EE296B41736EB3791BC6ABFF0B608_42</vt:lpwstr>
  </property>
  <property fmtid="{D5CDD505-2E9C-101B-9397-08002B2CF9AE}" pid="3" name="KSOProductBuildVer">
    <vt:lpwstr>2052-12.1.26050.26050</vt:lpwstr>
  </property>
</Properties>
</file>