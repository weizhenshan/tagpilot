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0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开场（30 秒）：大家好，我们是 TagPilot 战队，作品是「客群圈选与洞察场景下的标签智能体」。一句话：让客户经理用一句中文，圈出对的客群，看懂这群人。接下来 8 分钟，我按竞赛模板的 12 个部分讲。所有数字都来自仓库里可复核的报告，口径写在脚注里。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痛点（1 分 30 秒）：第一，标签规模已经不是「记不住」的问题，是「口径对不上」的问题 —— 969 个标签、5470 条别名、1723 条码值，客户经理靠目录翻找，口径靠口头对齐。第二，客群圈完就结束了，没有「看客群」的标准动作，结论不可复现、没有基准。右下四条是我们写进验收的红线，后面每一页的数字都要过这四条。注意：人工耗时我没有做对照测量，所以这一页不放「节省 4 小时」这类数字。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方案与价值（1 分 30 秒）：核心就一句话 —— 把「翻目录、对口径、取数、找基准」四步手工链路，收成一个可核验的动作。三个数字：检索召回 0.9907（宏观口径，微观是 0.9936，两个我都列出来了）；端到端方案判定 398/500；合规红线三项全零。第三个数字我们最看重，因为在银行场景里，圈出一个越权标签就是合规事故。最后强调：人工基线我们没测，所以不编时间节省。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架构（1 分钟）：四层。输入层是工作台，嵌在若依的 /agent 路由里，走 iframe + SSE 增量事件。处理层左边是 Java 控制面 —— 身份、资格、发布版本、编译、统计、建群六项权威全在 Java，所以我们能接进现有系统而不改业务系统；右边是 Python 三条能力链：理解层做六通道召回加 RRF 加 BGE 重排，编排层是 Claude Agent SDK 单循环加五个工具加确定性 Guard，洞察层是三个技能。底座是 MySQL、Milvus、Redis 和加密 SQLite。输出层两个东西：客群方案和洞察报告，中间有一个硬闸门 auto_execute=false。请评委注意最后一句：浏览器从不直连 Python，所以「谁有权看什么」永远只有一个答案。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流程图（1 分 15 秒）：五个节点。一，需求进入 —— Java 注入 owner、线程、发布版本和资格，生成不可变运行记录，同 ID 同原文幂等。二，检索取证 —— 三个工具在资格集内取证。三，方案成型 —— 编排成条件树并自查。四，Guard 确定性校验 —— 来源、数值、时间、冻结条件、需求覆盖五个维度，纯 Python，手工编辑也走同一个 Guard。五，人工确认后 Java 编译成规则 SQL、统计人数、写客群。下面三条分支：无候选、信息不足、预算收敛。关键设计是这三条都有明确出口 —— 尤其降级：L2/L3/L4 全都不能统计或建群，预算耗尽绝不宣称「业务上没有这个标签」。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模块详解（1 分 15 秒）：只讲三个难点。A 语义检索，难点是「口径不能近似」——「超过 100 万」在我们这里不允许近似成「100 万以上」，桶不严丝合缝就返回无法表达。B 编排层，难点是模型会编，但权限和口径不能编 —— 所以 Guard 和 SDK 完全解耦，工具、提交、手工编辑三条路径共用同一套校验。C 洞察，难点是结论要可复核又不能泄露个体 —— 数字只来自事实登记表，统计诊断的 Wilson 区间由 Guard 独立重算，任一格小于 20 人整组抑制，防止从合计减去其余格反推小格。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可控生成（1 分 15 秒）：五道闸门。一，条件必须绑定证据，不能凭空说。二，输出不是自然语言，是结构化条件树，深度、组数、ID 唯一性都有硬约束。三，五维确定性 Guard：来源、数值、时间、冻结条件、需求覆盖。四，资格在每次检索时重算，空资格必须空结果。五，auto_execute 硬编码为 false，合法 DSL 也不执行。右边三项零违规是我们最看重的：幻觉标签 0/1200、越权标签 0/1200、错误自动执行 0/600。最后那条也请评委注意：我们的失败里 20/26 是预算收敛，不是语义绑错，这个结论只在 max_turns=10、预算 1 美元条件下成立。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验证数据（1 分 30 秒）：先看左边五个用例 —— 正常、边界口径、越权、澄清、码值边界，全通过。口径那条请评委注意：「超过 100 万」我们不允许近似成「100 万以上」，桶不严丝合缝就返回无法表达。右边是受控 A/B，我特别想讲第一条：我们换了语义数据，L1 净收益是 0 —— 这是个负结果，我们也放上来。12 个召回缺口全部是 NFKC 配置修好的；15 例固定回归从 14/15 到 15/15，p95 时延从 81 秒降到 18 秒；HOLDOUT 200/200。底部这四条边界我必须主动说清楚 —— 人工基线没测、L2 是抽样、稳定性 NOT_MEASURED、L3 本轮不适用。这些在报告里都是白纸黑字，我不想在台上给一个更好看但不成立的数字。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演示（1 分 30 秒，现场切换或播放录屏）：0 到 30 秒从对象群列表点「继续圈选」进工作台；30 秒到 1 分 20 秒用一句话描述客群并勾选上下文标签；1 分 20 到 2 分 20 回答两三个口径问题，注意看 Agent 逐条收敛；2 分 20 统计人数，这里 Java 才编译 SQL；3 分钟确认建群；最后 3 分 40 起跑洞察包，看五段卡和图表，导出 SVG。屏幕上这两张是真实运行截图 —— 大家能看到界面自己标注了「合成聚合数据预览」，我们不假装是真实客户数据。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工程化（1 分钟）：我们没有另起一个系统，而是在若依既有的 9 个 Maven 模块上长出第五条能力链，所以业务系统零改造。规模：76 张表，语义层 17 张；391 项自动化测试全通过；一条 GitHub Actions 流水线管构建、增量迁移、发布和回滚。下面三个障碍我认为是真实存在的：模型会超时、权限会在线上漂移、小样本有合规风险 —— 每个都给了具体做法，尤其是资格在检索时重算但只收紧不放宽，这一条是整个权限模型的地基。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计划与分工（45 秒）：短期最关键的一件事是完成真实 MySQL 和已认证整链验收 —— 目前所有洞察数字都来自固定合成聚合，这一点必须说清楚。中期是把标签规模从 969 扩到行内实际的 3396，以及把线上反馈自动回灌成评测样本 —— 这一环现在还没自动化。长期是完成银行口径签署，并把这套「事实冻结 → 生成 → 诊断 → 受控变更 → 对照」的方法沉淀成可复用流程。分工见下，成员姓名会在交付前补上。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总结（45 秒）：三个亮点。第一，检索 —— 0.9907 和 0.9936 两个口径我都给，加上两项零违规。第二，洞察技能体系 —— 3 个技能、24 个指标、4 个基准、6 类图表原子，核心是数字只来自事实登记表、统计诊断可重算、小样本整组抑制。第三，数据飞轮 —— 1994 条评测案例，P2 诊断出 8 个根因簇，P3 生成 186 条操作的受控变更包，固定 100 例全通过；但线上反馈的自动回灌这一环还没做。最后一栏是诚实边界，如果评委问「能落地吗」，我的回答是：架构和工程化已经就位，整链验收和银行签署还没做完。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这一页是备用页，如果时间不够直接跳过。五个问题的回答都指向仓库里的具体出处。特别提醒自己：被问到数据来源时一定要主动说明「600 题封存集由已复核快照构造，不是第三方独立 Gold」，以及「洞察数字来自固定合成聚合，声明 synthetic=true」—— 这两条是我们自己报告里写的限制，主动说比被问出来好。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结束（15 秒）：以上就是 TagPilot。最后一句话，如果评委愿意，可以任给一句中文客户描述，我们现场跑一遍完整链路 —— 从一句话到人数、到客群、到洞察报告。谢谢大家。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pptx-build/assets/hero-dis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8552" y="137160"/>
            <a:ext cx="6400800" cy="6400800"/>
          </a:xfrm>
          <a:prstGeom prst="rect">
            <a:avLst/>
          </a:prstGeom>
        </p:spPr>
      </p:pic>
      <p:pic>
        <p:nvPicPr>
          <p:cNvPr id="3" name="Image 1" descr=".pptx-build/assets/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61264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16736" y="51206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</a:t>
            </a:r>
            <a:endParaRPr lang="en-US" sz="1900" dirty="0"/>
          </a:p>
        </p:txBody>
      </p:sp>
      <p:sp>
        <p:nvSpPr>
          <p:cNvPr id="5" name="Text 1"/>
          <p:cNvSpPr/>
          <p:nvPr/>
        </p:nvSpPr>
        <p:spPr>
          <a:xfrm>
            <a:off x="1316736" y="85953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标签智能体 · 客群圈选与洞察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66928" y="188366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智能体挑战赛 · 路演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66928" y="2176272"/>
            <a:ext cx="749808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</a:t>
            </a:r>
            <a:r>
              <a:rPr lang="en-US" sz="5000" b="1" dirty="0">
                <a:solidFill>
                  <a:srgbClr val="E476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Pilot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566928" y="3035808"/>
            <a:ext cx="7863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客群圈选与洞察场景下的标签智能体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66928" y="3584448"/>
            <a:ext cx="74980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让客户经理用一句中文，圈出对的客群，看懂这群人。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66928" y="4224528"/>
            <a:ext cx="3931920" cy="0"/>
          </a:xfrm>
          <a:prstGeom prst="line">
            <a:avLst/>
          </a:prstGeom>
          <a:noFill/>
          <a:ln w="12700">
            <a:solidFill>
              <a:srgbClr val="E0D3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437083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队伍名称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700784" y="437083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 战队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66928" y="46451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团队成员与分工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700784" y="4645152"/>
            <a:ext cx="58521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业务负责 待填 · 技术负责 待填 · 文档/演示 待填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66928" y="4919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日期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700784" y="491947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4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2026-09-30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项目概述与业务痛点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一句话说清：为谁、在什么场景、被什么卡住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11057839" cy="1060704"/>
          </a:xfrm>
          <a:prstGeom prst="roundRect">
            <a:avLst>
              <a:gd name="adj" fmla="val 5172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9903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项目一句话概述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627632"/>
            <a:ext cx="10582351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面向银行个人客户经营场景，本项目通过“六通道召回 + </a:t>
            </a:r>
            <a:r>
              <a:rPr lang="en-US" altLang="zh-CN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RRF + </a:t>
            </a: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重排”的语义检索、受控 </a:t>
            </a:r>
            <a:r>
              <a:rPr lang="en-US" altLang="zh-CN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工作流与洞察 </a:t>
            </a:r>
            <a:r>
              <a:rPr lang="en-US" altLang="zh-CN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Skill，</a:t>
            </a: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将自然语言营销需求一键转化为可核验的客群圈选方案与分析洞察，实现从“找标签、圈客群”到“看特征、做分析”的智能闭环——标签 </a:t>
            </a:r>
            <a:r>
              <a:rPr lang="en-US" altLang="zh-CN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Recall@20 </a:t>
            </a: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 99.07%，1,200 次测试零幻觉、零越权。</a:t>
            </a:r>
            <a:endParaRPr lang="zh-CN" altLang="en-US" sz="1200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2414016"/>
            <a:ext cx="5428336" cy="2871216"/>
          </a:xfrm>
          <a:prstGeom prst="roundRect">
            <a:avLst>
              <a:gd name="adj" fmla="val 1911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2633472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6334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2144" y="2633472"/>
            <a:ext cx="462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标签多、口径散，客群圈选高度依赖人工判断</a:t>
            </a:r>
            <a:endParaRPr lang="en-US" sz="125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6384" y="30175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痛点描述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86384" y="32004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要在近千个个人客户标签里按目录翻找，还要判断「月日均金融资产」与「AUM」、「上月末」与「近 30 天」是不是同一口径。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35763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当前做法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86384" y="37592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翻标签目录 → 回看字段口径说明 → 选项类再逐个对照码表；口径对齐靠口头沟通，没有留痕。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" y="41351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数据支撑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86384" y="43180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演示基线快照共 969 个上线标签、682 个可发布概念、5,470 条已复核别名、1,723 条码值，底层宽表 970 列。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" y="46939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导致后果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86384" y="48768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口径圈错则客群多圈或漏圈，营销名单不准；口径靠口头对齐，事后无法复核、无法追溯。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6432" y="2414016"/>
            <a:ext cx="5428336" cy="2871216"/>
          </a:xfrm>
          <a:prstGeom prst="roundRect">
            <a:avLst>
              <a:gd name="adj" fmla="val 1911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5888" y="2633472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5888" y="26334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81648" y="2633472"/>
            <a:ext cx="462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圈得出客群，却看不懂客群</a:t>
            </a:r>
            <a:endParaRPr lang="en-US" sz="125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15888" y="30175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痛点描述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415888" y="32004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客群圈定后，只有“筛选规则 + 命中人数”，却回答不了三个关键问题：这群人是谁、有什么特征、值不值得经营。</a:t>
            </a:r>
            <a:endParaRPr 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15888" y="35763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当前做法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415888" y="37592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分析师临时取数 → 手工透视分析 → 凭经验寻找对比基准 → 人工输出结论；流程依赖个人经验，口径与结果难以统一。</a:t>
            </a:r>
            <a:endParaRPr 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15888" y="41351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数据支撑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15888" y="43180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原标签系统缺少标准化洞察能力、指标口径与基准体系；本次项目新增 3 类洞察 Skill、24 项标准指标、4 类对比基准，将常用分析动作沉淀为可复用能力。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15888" y="46939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导致后果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415888" y="4876800"/>
            <a:ext cx="4989424" cy="1833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不可复现、不可对比、不可安全</a:t>
            </a: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</a:t>
            </a: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发，分析结论存在合规风险。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6928" y="5413248"/>
            <a:ext cx="11057839" cy="676656"/>
          </a:xfrm>
          <a:prstGeom prst="roundRect">
            <a:avLst>
              <a:gd name="adj" fmla="val 6757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5504688"/>
            <a:ext cx="10618927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我们给自己定的红线（写进验收，违反即不合格）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6384" y="5742432"/>
            <a:ext cx="261518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574243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不改宽 tl_tag 来存别名或口径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3529584" y="5742432"/>
            <a:ext cx="261518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21024" y="574243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权限不写入快照或索引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272784" y="5742432"/>
            <a:ext cx="261518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574243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空资格必须返回空结果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015984" y="5742432"/>
            <a:ext cx="261518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07424" y="574243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合法 DSL 也不得自动执行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解决方案与目标价值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把“找标签、拼条件、核规则、看客群”，变成一句话完成</a:t>
            </a:r>
            <a:endParaRPr lang="zh-CN" altLang="en-US" sz="26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57839" cy="1078992"/>
          </a:xfrm>
          <a:prstGeom prst="roundRect">
            <a:avLst>
              <a:gd name="adj" fmla="val 5085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8074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609344"/>
            <a:ext cx="10582351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dirty="0"/>
              <a:t>客户经理只需用中文描述目标客群，系统自动完成标签查找、条件组合和规则校验，最终生成可核验的客群方案。</a:t>
            </a:r>
            <a:endParaRPr lang="zh-CN" alt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dirty="0"/>
              <a:t>语义检索负责“找对标签”，受控 </a:t>
            </a:r>
            <a:r>
              <a:rPr lang="en-US" altLang="zh-CN" sz="1200" dirty="0"/>
              <a:t>Agent </a:t>
            </a:r>
            <a:r>
              <a:rPr lang="zh-CN" altLang="en-US" sz="1200" dirty="0"/>
              <a:t>负责“拼对条件”，确定性 </a:t>
            </a:r>
            <a:r>
              <a:rPr lang="en-US" altLang="zh-CN" sz="1200" dirty="0"/>
              <a:t>Guard </a:t>
            </a:r>
            <a:r>
              <a:rPr lang="zh-CN" altLang="en-US" sz="1200" dirty="0"/>
              <a:t>逐项检查来源、数值、时间和冻结条件；确认建群后，还可调用洞察 </a:t>
            </a:r>
            <a:r>
              <a:rPr lang="en-US" altLang="zh-CN" sz="1200" dirty="0"/>
              <a:t>Skill </a:t>
            </a:r>
            <a:r>
              <a:rPr lang="zh-CN" altLang="en-US" sz="1200" dirty="0"/>
              <a:t>分析客群特征。全程不由 </a:t>
            </a:r>
            <a:r>
              <a:rPr lang="en-US" altLang="zh-CN" sz="1200" dirty="0"/>
              <a:t>Agent </a:t>
            </a:r>
            <a:r>
              <a:rPr lang="zh-CN" altLang="en-US" sz="1200" dirty="0"/>
              <a:t>直接生成 </a:t>
            </a:r>
            <a:r>
              <a:rPr lang="en-US" altLang="zh-CN" sz="1200" dirty="0"/>
              <a:t>SQL、</a:t>
            </a:r>
            <a:r>
              <a:rPr lang="zh-CN" altLang="en-US" sz="1200" dirty="0"/>
              <a:t>不查询客户明细、不自动执行，关键动作均需人工确认。</a:t>
            </a:r>
            <a:endParaRPr lang="zh-CN" alt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523744"/>
            <a:ext cx="355183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633472"/>
            <a:ext cx="3149498" cy="49377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altLang="zh-CN" sz="30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99.07%</a:t>
            </a:r>
            <a:endParaRPr lang="en-US" altLang="zh-CN" sz="3000" b="1" dirty="0">
              <a:solidFill>
                <a:srgbClr val="E4761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096" y="3127248"/>
            <a:ext cx="314949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5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标签召回率 </a:t>
            </a:r>
            <a:r>
              <a:rPr lang="en-US" altLang="zh-CN" sz="95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Recall@20</a:t>
            </a:r>
            <a:endParaRPr lang="en-US" altLang="zh-CN" sz="950" b="1" dirty="0">
              <a:solidFill>
                <a:srgbClr val="96897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096" y="3364992"/>
            <a:ext cx="3149498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输入一句业务描述，目标标签基本都能进入前 20 个候选。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测试覆盖 1,296 个案例、1,880 个原子条件。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19930" y="2523744"/>
            <a:ext cx="355183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1098" y="2633472"/>
            <a:ext cx="3149498" cy="49377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altLang="zh-CN" sz="30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79.6%</a:t>
            </a:r>
            <a:endParaRPr lang="en-US" altLang="zh-CN" sz="3000" b="1" dirty="0">
              <a:solidFill>
                <a:srgbClr val="C25A0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21098" y="3127248"/>
            <a:ext cx="314949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5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端到端一次通过率</a:t>
            </a:r>
            <a:endParaRPr lang="zh-CN" altLang="en-US" sz="950" b="1" dirty="0">
              <a:solidFill>
                <a:srgbClr val="96897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21098" y="3364992"/>
            <a:ext cx="3149498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 条完整客群需求中，398 条无需人工修正即可通过判定。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按完整方案严格评测，而不是只判断最终人数是否一致。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72933" y="2523744"/>
            <a:ext cx="355183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4101" y="2633472"/>
            <a:ext cx="3149498" cy="49377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altLang="zh-CN" sz="30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1200</a:t>
            </a:r>
            <a:endParaRPr lang="en-US" altLang="zh-CN" sz="3000" b="1" dirty="0">
              <a:solidFill>
                <a:srgbClr val="C25A0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74101" y="3127248"/>
            <a:ext cx="314949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5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标签幻觉与越权引用</a:t>
            </a:r>
            <a:endParaRPr lang="zh-CN" altLang="en-US" sz="950" b="1" dirty="0">
              <a:solidFill>
                <a:srgbClr val="96897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74101" y="3364992"/>
            <a:ext cx="3149498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1200 次标签引用测试中：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幻觉标签 0 次｜越权标签 0 次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" y="416966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落地场景：谁、在哪个环节用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443984"/>
            <a:ext cx="11057839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572000"/>
            <a:ext cx="355183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客户经理｜营销客群圈选</a:t>
            </a:r>
            <a:endParaRPr lang="zh-CN" altLang="en-US" sz="120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4828032"/>
            <a:ext cx="355183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营销策划环节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67055" y="5047615"/>
            <a:ext cx="338709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一句话描述目标客户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系统自动找标签、拼条件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对关键歧义进行确认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查看预估人数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确认建群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19930" y="4572000"/>
            <a:ext cx="355183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标签管理员｜标签治理</a:t>
            </a:r>
            <a:endParaRPr lang="zh-CN" altLang="en-US" sz="120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19930" y="4828032"/>
            <a:ext cx="355183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语义层治理环节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319905" y="5047615"/>
            <a:ext cx="3387090" cy="9340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维护概念、别名、码值和业务口径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系统发布前自动检查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通过后进入统一语义层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新标签即可被 </a:t>
            </a:r>
            <a:r>
              <a:rPr lang="en-US" altLang="zh-CN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检索和使用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72933" y="4572000"/>
            <a:ext cx="355183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数据分析师｜客群洞察</a:t>
            </a:r>
            <a:endParaRPr lang="zh-CN" altLang="en-US" sz="120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72933" y="4828032"/>
            <a:ext cx="355183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客群洞察环节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072755" y="5047615"/>
            <a:ext cx="3387090" cy="1078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</a:t>
            </a: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选择已圈定客群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调用标准化洞察 </a:t>
            </a:r>
            <a:r>
              <a:rPr lang="en-US" altLang="zh-CN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</a:t>
            </a:r>
            <a:endParaRPr lang="en-US" altLang="zh-CN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自动生成特征分布、对比基准和图表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小样本抑制与口径校验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输出可复核分析结果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技术架构图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</a:t>
            </a: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架构：Java 管权限，Python 管智能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495" y="6346190"/>
            <a:ext cx="10143490" cy="4133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模型侧可替换，业务侧可审计：前沿能力独立成进程，关键环节留在成熟主干。</a:t>
            </a:r>
            <a:endParaRPr lang="zh-CN" altLang="en-US" sz="1600" dirty="0">
              <a:solidFill>
                <a:srgbClr val="96897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715" y="1170305"/>
            <a:ext cx="9162415" cy="5010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核心流程图 / DAG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</a:t>
            </a:r>
            <a:r>
              <a:rPr lang="en-US" altLang="zh-CN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放进“有边界”的流程里，每一步都可校验、可回退</a:t>
            </a:r>
            <a:endParaRPr lang="zh-CN" altLang="en-US" sz="26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0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用户一句话进入后，系统自动完成标签检索、条件编排与规则校验。遇到歧义或校验失败时，自动进入追问或修正，确保结果可核验、可追溯、可人工接管。</a:t>
            </a:r>
            <a:endParaRPr lang="zh-CN" altLang="en-US" sz="1000" dirty="0">
              <a:solidFill>
                <a:srgbClr val="96897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65" y="1170305"/>
            <a:ext cx="8459470" cy="5081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核心模块详解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600" b="1">
                <a:solidFill>
                  <a:srgbClr val="2A1C0E"/>
                </a:solidFill>
                <a:latin typeface="微软雅黑"/>
                <a:ea typeface="微软雅黑"/>
                <a:cs typeface="微软雅黑"/>
              </a:rPr>
              <a:t>三个核心模块，解决三类技术难点</a:t>
            </a:r>
            <a:endParaRPr sz="260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3564026" cy="4663440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426464"/>
            <a:ext cx="316169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A. 语义检索层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1737360"/>
            <a:ext cx="316169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tagpilot-semantic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8096" y="2011680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76272"/>
            <a:ext cx="316169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880" b="1">
                <a:solidFill>
                  <a:srgbClr val="A87A10"/>
                </a:solidFill>
                <a:latin typeface="微软雅黑"/>
                <a:ea typeface="微软雅黑"/>
                <a:cs typeface="微软雅黑"/>
              </a:rPr>
              <a:t>做什么</a:t>
            </a:r>
            <a:endParaRPr sz="880"/>
          </a:p>
        </p:txBody>
      </p:sp>
      <p:sp>
        <p:nvSpPr>
          <p:cNvPr id="9" name="Text 7"/>
          <p:cNvSpPr/>
          <p:nvPr/>
        </p:nvSpPr>
        <p:spPr>
          <a:xfrm>
            <a:off x="768096" y="2390775"/>
            <a:ext cx="316169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  <a:defRPr sz="1200" b="0"/>
            </a:pPr>
            <a:r>
              <a:rPr sz="1200" b="0">
                <a:solidFill>
                  <a:srgbClr val="2A1C0E"/>
                </a:solidFill>
                <a:latin typeface="微软雅黑"/>
                <a:ea typeface="微软雅黑"/>
                <a:cs typeface="微软雅黑"/>
              </a:rPr>
              <a:t>将自然语言需求匹配到业务标签，</a:t>
            </a:r>
            <a:endParaRPr sz="1700"/>
          </a:p>
          <a:p>
            <a:pPr marL="0" indent="0" algn="l">
              <a:lnSpc>
                <a:spcPct val="120000"/>
              </a:lnSpc>
              <a:buNone/>
              <a:defRPr sz="1200" b="0"/>
            </a:pPr>
            <a:r>
              <a:rPr sz="1200" b="0">
                <a:solidFill>
                  <a:srgbClr val="2A1C0E"/>
                </a:solidFill>
                <a:latin typeface="微软雅黑"/>
                <a:ea typeface="微软雅黑"/>
                <a:cs typeface="微软雅黑"/>
              </a:rPr>
              <a:t>确保筛选口径准确。</a:t>
            </a:r>
            <a:endParaRPr sz="1700"/>
          </a:p>
        </p:txBody>
      </p:sp>
      <p:sp>
        <p:nvSpPr>
          <p:cNvPr id="10" name="Text 8"/>
          <p:cNvSpPr/>
          <p:nvPr/>
        </p:nvSpPr>
        <p:spPr>
          <a:xfrm>
            <a:off x="768096" y="2981325"/>
            <a:ext cx="316169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880" b="1">
                <a:solidFill>
                  <a:srgbClr val="A87A10"/>
                </a:solidFill>
                <a:latin typeface="微软雅黑"/>
                <a:ea typeface="微软雅黑"/>
                <a:cs typeface="微软雅黑"/>
              </a:rPr>
              <a:t>用什么技术</a:t>
            </a:r>
            <a:endParaRPr sz="880"/>
          </a:p>
        </p:txBody>
      </p:sp>
      <p:sp>
        <p:nvSpPr>
          <p:cNvPr id="11" name="Shape 9"/>
          <p:cNvSpPr/>
          <p:nvPr/>
        </p:nvSpPr>
        <p:spPr>
          <a:xfrm>
            <a:off x="768096" y="3209925"/>
            <a:ext cx="3161690" cy="2422779"/>
          </a:xfrm>
          <a:prstGeom prst="roundRect">
            <a:avLst>
              <a:gd name="adj" fmla="val 2174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343275"/>
            <a:ext cx="2905658" cy="2162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语义检索（BGE-M3）理解用户表达，关键词匹配补充查找，再把更准确的标签排在前面。</a:t>
            </a:r>
          </a:p>
          <a:p>
            <a:pPr>
              <a:spcAft>
                <a:spcPts val="25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B77B00"/>
                </a:solidFill>
              </a:rPr>
              <a:t>关键实现</a:t>
            </a:r>
            <a:endParaRPr b="1">
              <a:solidFill>
                <a:srgbClr val="B77B00"/>
              </a:solidFill>
            </a:endParaRPr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rPr b="1"/>
              <a:t>难点：语义相近，口径未必一致</a:t>
            </a:r>
            <a:endParaRPr b="1"/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区间校验确保标签精确表达需求。跨桶并集必须严格等于目标区间，否则返回无法表达。</a:t>
            </a:r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例如：“超过 100 万”不能替换为“100 万及以上”。</a:t>
            </a:r>
          </a:p>
        </p:txBody>
      </p:sp>
      <p:sp>
        <p:nvSpPr>
          <p:cNvPr id="13" name="Shape 11"/>
          <p:cNvSpPr/>
          <p:nvPr/>
        </p:nvSpPr>
        <p:spPr>
          <a:xfrm>
            <a:off x="4313834" y="1243584"/>
            <a:ext cx="3564026" cy="4663440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15002" y="1426464"/>
            <a:ext cx="316169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B. Agent 编排层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15002" y="1737360"/>
            <a:ext cx="316169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tagpilot-agent 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15002" y="2011680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5002" y="2176272"/>
            <a:ext cx="316169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880" b="1">
                <a:solidFill>
                  <a:srgbClr val="A87A10"/>
                </a:solidFill>
                <a:latin typeface="微软雅黑"/>
                <a:ea typeface="微软雅黑"/>
                <a:cs typeface="微软雅黑"/>
              </a:rPr>
              <a:t>做什么</a:t>
            </a:r>
            <a:endParaRPr sz="880"/>
          </a:p>
        </p:txBody>
      </p:sp>
      <p:sp>
        <p:nvSpPr>
          <p:cNvPr id="18" name="Text 16"/>
          <p:cNvSpPr/>
          <p:nvPr/>
        </p:nvSpPr>
        <p:spPr>
          <a:xfrm>
            <a:off x="4515002" y="2390775"/>
            <a:ext cx="316169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  <a:defRPr sz="1200" b="0"/>
            </a:pPr>
            <a:r>
              <a:rPr sz="1200" b="0">
                <a:solidFill>
                  <a:srgbClr val="2A1C0E"/>
                </a:solidFill>
                <a:latin typeface="微软雅黑"/>
                <a:ea typeface="微软雅黑"/>
                <a:cs typeface="微软雅黑"/>
              </a:rPr>
              <a:t>将用户需求转化为客群圈选方案，</a:t>
            </a:r>
            <a:endParaRPr sz="1700"/>
          </a:p>
          <a:p>
            <a:pPr marL="0" indent="0" algn="l">
              <a:lnSpc>
                <a:spcPct val="120000"/>
              </a:lnSpc>
              <a:buNone/>
              <a:defRPr sz="1200" b="0"/>
            </a:pPr>
            <a:r>
              <a:rPr sz="1200" b="0">
                <a:solidFill>
                  <a:srgbClr val="2A1C0E"/>
                </a:solidFill>
                <a:latin typeface="微软雅黑"/>
                <a:ea typeface="微软雅黑"/>
                <a:cs typeface="微软雅黑"/>
              </a:rPr>
              <a:t>支持校验、确认和执行。</a:t>
            </a:r>
            <a:endParaRPr sz="1700"/>
          </a:p>
        </p:txBody>
      </p:sp>
      <p:sp>
        <p:nvSpPr>
          <p:cNvPr id="19" name="Text 17"/>
          <p:cNvSpPr/>
          <p:nvPr/>
        </p:nvSpPr>
        <p:spPr>
          <a:xfrm>
            <a:off x="4515002" y="2981325"/>
            <a:ext cx="316169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880" b="1">
                <a:solidFill>
                  <a:srgbClr val="A87A10"/>
                </a:solidFill>
                <a:latin typeface="微软雅黑"/>
                <a:ea typeface="微软雅黑"/>
                <a:cs typeface="微软雅黑"/>
              </a:rPr>
              <a:t>用什么技术</a:t>
            </a:r>
            <a:endParaRPr sz="880"/>
          </a:p>
        </p:txBody>
      </p:sp>
      <p:sp>
        <p:nvSpPr>
          <p:cNvPr id="20" name="Shape 18"/>
          <p:cNvSpPr/>
          <p:nvPr/>
        </p:nvSpPr>
        <p:spPr>
          <a:xfrm>
            <a:off x="4515002" y="3209925"/>
            <a:ext cx="3161690" cy="2422779"/>
          </a:xfrm>
          <a:prstGeom prst="roundRect">
            <a:avLst>
              <a:gd name="adj" fmla="val 2174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3018" y="3343275"/>
            <a:ext cx="2905658" cy="2162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Claude Agent SDK 理解需求、调用工具，独立校验层检查方案和权限。</a:t>
            </a:r>
          </a:p>
          <a:p>
            <a:pPr>
              <a:spcAft>
                <a:spcPts val="25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B77B00"/>
                </a:solidFill>
              </a:rPr>
              <a:t>关键实现</a:t>
            </a:r>
            <a:endParaRPr b="1">
              <a:solidFill>
                <a:srgbClr val="B77B00"/>
              </a:solidFill>
            </a:endParaRPr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rPr b="1"/>
              <a:t>难点：生成方案可能出错或越权</a:t>
            </a:r>
            <a:endParaRPr b="1"/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工具调用、最终提交、手工编辑共用同一套校验规则，防止不同入口绕过约束。</a:t>
            </a:r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已冻结条件在后续对话中保持不变。方案通过校验后，才能进入相应执行环节。</a:t>
            </a:r>
          </a:p>
        </p:txBody>
      </p:sp>
      <p:sp>
        <p:nvSpPr>
          <p:cNvPr id="22" name="Shape 20"/>
          <p:cNvSpPr/>
          <p:nvPr/>
        </p:nvSpPr>
        <p:spPr>
          <a:xfrm>
            <a:off x="8060741" y="1243584"/>
            <a:ext cx="3564026" cy="4663440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61909" y="1426464"/>
            <a:ext cx="316169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C. 洞察 Skill 体系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61909" y="1737360"/>
            <a:ext cx="316169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tagpilot-insight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61909" y="2011680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1909" y="2176272"/>
            <a:ext cx="316169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880" b="1">
                <a:solidFill>
                  <a:srgbClr val="A87A10"/>
                </a:solidFill>
                <a:latin typeface="微软雅黑"/>
                <a:ea typeface="微软雅黑"/>
                <a:cs typeface="微软雅黑"/>
              </a:rPr>
              <a:t>做什么</a:t>
            </a:r>
            <a:endParaRPr sz="880"/>
          </a:p>
        </p:txBody>
      </p:sp>
      <p:sp>
        <p:nvSpPr>
          <p:cNvPr id="27" name="Text 25"/>
          <p:cNvSpPr/>
          <p:nvPr/>
        </p:nvSpPr>
        <p:spPr>
          <a:xfrm>
            <a:off x="8261909" y="2390775"/>
            <a:ext cx="316169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  <a:defRPr sz="1200" b="0"/>
            </a:pPr>
            <a:r>
              <a:rPr sz="1200" b="0">
                <a:solidFill>
                  <a:srgbClr val="2A1C0E"/>
                </a:solidFill>
                <a:latin typeface="微软雅黑"/>
                <a:ea typeface="微软雅黑"/>
                <a:cs typeface="微软雅黑"/>
              </a:rPr>
              <a:t>基于客群统计生成可复核的洞察，</a:t>
            </a:r>
            <a:endParaRPr sz="1700"/>
          </a:p>
          <a:p>
            <a:pPr marL="0" indent="0" algn="l">
              <a:lnSpc>
                <a:spcPct val="120000"/>
              </a:lnSpc>
              <a:buNone/>
              <a:defRPr sz="1200" b="0"/>
            </a:pPr>
            <a:r>
              <a:rPr sz="1200" b="0">
                <a:solidFill>
                  <a:srgbClr val="2A1C0E"/>
                </a:solidFill>
                <a:latin typeface="微软雅黑"/>
                <a:ea typeface="微软雅黑"/>
                <a:cs typeface="微软雅黑"/>
              </a:rPr>
              <a:t>同时保护个体隐私。</a:t>
            </a:r>
            <a:endParaRPr sz="1700"/>
          </a:p>
        </p:txBody>
      </p:sp>
      <p:sp>
        <p:nvSpPr>
          <p:cNvPr id="28" name="Text 26"/>
          <p:cNvSpPr/>
          <p:nvPr/>
        </p:nvSpPr>
        <p:spPr>
          <a:xfrm>
            <a:off x="8261909" y="2981325"/>
            <a:ext cx="316169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880" b="1">
                <a:solidFill>
                  <a:srgbClr val="A87A10"/>
                </a:solidFill>
                <a:latin typeface="微软雅黑"/>
                <a:ea typeface="微软雅黑"/>
                <a:cs typeface="微软雅黑"/>
              </a:rPr>
              <a:t>用什么技术</a:t>
            </a:r>
            <a:endParaRPr sz="880"/>
          </a:p>
        </p:txBody>
      </p:sp>
      <p:sp>
        <p:nvSpPr>
          <p:cNvPr id="29" name="Shape 27"/>
          <p:cNvSpPr/>
          <p:nvPr/>
        </p:nvSpPr>
        <p:spPr>
          <a:xfrm>
            <a:off x="8261909" y="3209925"/>
            <a:ext cx="3161690" cy="2422779"/>
          </a:xfrm>
          <a:prstGeom prst="roundRect">
            <a:avLst>
              <a:gd name="adj" fmla="val 2174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9925" y="3343275"/>
            <a:ext cx="2905658" cy="2162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配置清单（YAML）统一分析口径，测试样例检查逻辑，版本校验便于追溯，事实登记表提供数据。</a:t>
            </a:r>
          </a:p>
          <a:p>
            <a:pPr>
              <a:spcAft>
                <a:spcPts val="25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B77B00"/>
                </a:solidFill>
              </a:rPr>
              <a:t>关键实现</a:t>
            </a:r>
            <a:endParaRPr b="1">
              <a:solidFill>
                <a:srgbClr val="B77B00"/>
              </a:solidFill>
            </a:endParaRPr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rPr b="1"/>
              <a:t>难点：结论可复核，个体不暴露</a:t>
            </a:r>
            <a:endParaRPr b="1"/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Guard 独立重算 Wilson 置信区间，核对统计结论依据。</a:t>
            </a:r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任一分格少于 20 人时，整组结果不展示。</a:t>
            </a:r>
          </a:p>
          <a:p>
            <a:pPr>
              <a:spcAft>
                <a:spcPts val="300"/>
              </a:spcAft>
              <a:defRPr sz="1200" b="0">
                <a:solidFill>
                  <a:srgbClr val="2C2115"/>
                </a:solidFill>
                <a:latin typeface="微软雅黑"/>
                <a:ea typeface="微软雅黑"/>
                <a:cs typeface="微软雅黑"/>
              </a:defRPr>
            </a:pPr>
            <a:r>
              <a:t>防止通过其他分格反推个体信息。</a:t>
            </a:r>
          </a:p>
        </p:txBody>
      </p:sp>
      <p:sp>
        <p:nvSpPr>
          <p:cNvPr id="31" name="Text 29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850">
                <a:solidFill>
                  <a:srgbClr val="96897B"/>
                </a:solidFill>
                <a:latin typeface="微软雅黑"/>
                <a:ea typeface="微软雅黑"/>
                <a:cs typeface="微软雅黑"/>
              </a:rPr>
              <a:t>实现重点：检索口径精确匹配，方案与权限统一校验，统计结论独立复核。</a:t>
            </a:r>
            <a:endParaRPr sz="850"/>
          </a:p>
        </p:txBody>
      </p:sp>
      <p:sp>
        <p:nvSpPr>
          <p:cNvPr id="32" name="Text 30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· 可控生成机制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五道闸门，让 </a:t>
            </a:r>
            <a:r>
              <a:rPr lang="en-US" altLang="zh-CN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“</a:t>
            </a:r>
            <a:r>
              <a:rPr lang="zh-CN" alt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会思考，但不能乱执行”</a:t>
            </a:r>
            <a:endParaRPr lang="zh-CN" altLang="en-US" sz="26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696772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08176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3584" y="1389888"/>
            <a:ext cx="0" cy="64008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137160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每个条件，都必须“有据可查”</a:t>
            </a:r>
            <a:endParaRPr lang="zh-CN" altLang="en-US" sz="12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08176" y="164592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每个圈选条件必须绑定语义检索证据，模型不能凭空创造标签或业务口径</a:t>
            </a: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696772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9572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3584" y="2377440"/>
            <a:ext cx="0" cy="64008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08176" y="235915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模型只生成结构化条件，不直接给结论</a:t>
            </a:r>
            <a:endParaRPr lang="zh-CN" altLang="en-US" sz="12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08176" y="2633472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输出统一转换为标准条件树，并执行层级、逻辑关系、唯一标识等结构校验；不合规结果直接拦截。</a:t>
            </a:r>
            <a:endParaRPr lang="zh-CN" altLang="en-US" sz="9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928" y="3236976"/>
            <a:ext cx="696772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383280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3584" y="3364992"/>
            <a:ext cx="0" cy="64008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3346704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 </a:t>
            </a:r>
            <a:r>
              <a:rPr lang="en-US" altLang="zh-CN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Guard，</a:t>
            </a:r>
            <a:r>
              <a:rPr lang="zh-CN" altLang="en-US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逐项做确定性校验</a:t>
            </a:r>
            <a:endParaRPr lang="zh-CN" altLang="en-US" sz="12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08176" y="3621024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围绕来源、数值、时间、冻结条件、需求覆盖五个维度逐项检查，关键规则不交给模型自行判断</a:t>
            </a: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696772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370832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43584" y="4352544"/>
            <a:ext cx="0" cy="64008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08176" y="433425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每次使用，都重新校验权限与资格</a:t>
            </a:r>
            <a:endParaRPr lang="zh-CN" altLang="en-US" sz="12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08176" y="4608576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标签资格实时计算；无权限、未发布、已失效标签无法进入最终方案，历史结果也不能绕过当前规则。</a:t>
            </a:r>
            <a:endParaRPr lang="zh-CN" altLang="en-US" sz="9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6928" y="5212080"/>
            <a:ext cx="696772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358384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43584" y="5340096"/>
            <a:ext cx="0" cy="64008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532180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默认“不自动执行”，最终动作由人确认</a:t>
            </a:r>
            <a:endParaRPr lang="zh-CN" altLang="en-US" sz="12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08176" y="5596128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altLang="zh-CN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只生成待确认的客群方案，不直接执行 </a:t>
            </a:r>
            <a:r>
              <a:rPr lang="en-US" altLang="zh-CN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SQL；</a:t>
            </a: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真正建群仍由现有 </a:t>
            </a:r>
            <a:r>
              <a:rPr lang="en-US" altLang="zh-CN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 </a:t>
            </a: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模块和人工确认完成。</a:t>
            </a:r>
            <a:endParaRPr lang="zh-CN" altLang="en-US" sz="9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808976" y="1261872"/>
            <a:ext cx="3815791" cy="4846320"/>
          </a:xfrm>
          <a:prstGeom prst="roundRect">
            <a:avLst>
              <a:gd name="adj" fmla="val 1438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10144" y="1426464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五道闸门之后的实测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10144" y="1755648"/>
            <a:ext cx="3413455" cy="0"/>
          </a:xfrm>
          <a:prstGeom prst="line">
            <a:avLst/>
          </a:prstGeom>
          <a:noFill/>
          <a:ln w="12700">
            <a:solidFill>
              <a:srgbClr val="F0D6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0144" y="1938528"/>
            <a:ext cx="341345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1200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010144" y="2340864"/>
            <a:ext cx="3413455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幻觉标签引用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010144" y="2852928"/>
            <a:ext cx="341345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1200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010144" y="3255264"/>
            <a:ext cx="3413455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越权或未发布标签引用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010144" y="3767328"/>
            <a:ext cx="341345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600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010144" y="4169664"/>
            <a:ext cx="3413455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错误自动执行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010144" y="4773168"/>
            <a:ext cx="3413455" cy="0"/>
          </a:xfrm>
          <a:prstGeom prst="line">
            <a:avLst/>
          </a:prstGeom>
          <a:noFill/>
          <a:ln w="12700">
            <a:solidFill>
              <a:srgbClr val="F0D6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10144" y="4882896"/>
            <a:ext cx="3413455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2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这三个“0”意味着什么？</a:t>
            </a:r>
            <a:endParaRPr lang="zh-CN" altLang="en-US" sz="920" b="1" dirty="0">
              <a:solidFill>
                <a:srgbClr val="A87A1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010144" y="5102352"/>
            <a:ext cx="3413455" cy="8778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zh-CN" altLang="en-US" sz="88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在封存测试集中，系统未出现幻觉标签、越权标签或错误自动执行。即使模型判断出错，也会被确定性规则拦截，而不是直接进入生产动作。</a:t>
            </a:r>
            <a:endParaRPr lang="zh-CN" altLang="en-US" sz="880" dirty="0">
              <a:solidFill>
                <a:srgbClr val="96897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· 效果验证与测试数据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五类用例通过，配置优化提升召回覆盖率并降低响应时延</a:t>
            </a:r>
            <a:endParaRPr lang="zh-CN" altLang="en-US" sz="26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测试用例（正常 / 边界 / 异常 / 澄清）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6492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5544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用例1｜正常需求</a:t>
            </a:r>
            <a:endParaRPr lang="zh-CN" altLang="en-US" sz="96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29968" y="1527048"/>
            <a:ext cx="38039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「上月借记卡消费金额至少 0」</a:t>
            </a: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命中标签，标记待人工确认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6016752" y="1691640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6752" y="1691640"/>
            <a:ext cx="859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66928" y="2249424"/>
            <a:ext cx="6492240" cy="713232"/>
          </a:xfrm>
          <a:prstGeom prst="roundRect">
            <a:avLst>
              <a:gd name="adj" fmla="val 7692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234086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用例2｜边界口径</a:t>
            </a:r>
            <a:endParaRPr lang="zh-CN" altLang="en-US" sz="96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29968" y="2313432"/>
            <a:ext cx="38039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「超过 100 万」</a:t>
            </a:r>
            <a:r>
              <a:rPr lang="zh-CN" altLang="en-US" sz="9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无精确表达</a:t>
            </a: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</a:t>
            </a: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拒绝近似替换，提示无法表达</a:t>
            </a:r>
            <a:endParaRPr lang="zh-CN" altLang="en-US" sz="9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16752" y="2478024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2478024"/>
            <a:ext cx="859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66928" y="3035808"/>
            <a:ext cx="6492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12724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用例3｜异常权限</a:t>
            </a:r>
            <a:endParaRPr lang="zh-CN" altLang="en-US" sz="96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29968" y="3099816"/>
            <a:ext cx="38039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引用资格外或未发布标签</a:t>
            </a: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</a:t>
            </a: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返回 </a:t>
            </a:r>
            <a:r>
              <a:rPr lang="en-US" altLang="zh-CN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INELIGIBLE_TAG，</a:t>
            </a: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拒绝该条件</a:t>
            </a:r>
            <a:endParaRPr lang="zh-CN" altLang="en-US" sz="9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16752" y="3264408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3264408"/>
            <a:ext cx="859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6492240" cy="713232"/>
          </a:xfrm>
          <a:prstGeom prst="roundRect">
            <a:avLst>
              <a:gd name="adj" fmla="val 7692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39136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用例4｜信息缺失</a:t>
            </a:r>
            <a:endParaRPr lang="zh-CN" altLang="en-US" sz="96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29968" y="3886200"/>
            <a:ext cx="38039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「高净值客户」未给阈值</a:t>
            </a: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</a:t>
            </a: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请求补充条件，避免自行推断</a:t>
            </a: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，最多 3 问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016752" y="4050792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4050792"/>
            <a:ext cx="859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66928" y="4608576"/>
            <a:ext cx="6492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470001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用例5｜未知码值</a:t>
            </a:r>
            <a:endParaRPr lang="zh-CN" altLang="en-US" sz="96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029968" y="4672584"/>
            <a:ext cx="38039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负向条件命中「未知」桶</a:t>
            </a: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</a:t>
            </a:r>
            <a:r>
              <a:rPr lang="zh-CN" alt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强制明确未知值处理方式，避免漏选误选</a:t>
            </a:r>
            <a:endParaRPr lang="zh-CN" altLang="en-US" sz="9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16752" y="4837176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4837176"/>
            <a:ext cx="859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7333488" y="1207008"/>
            <a:ext cx="4291279" cy="4041648"/>
          </a:xfrm>
          <a:prstGeom prst="roundRect">
            <a:avLst>
              <a:gd name="adj" fmla="val 1357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34656" y="1335024"/>
            <a:ext cx="3888943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量化效果对比</a:t>
            </a:r>
            <a:endParaRPr lang="zh-CN" altLang="en-US" sz="12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534656" y="1645920"/>
            <a:ext cx="3888943" cy="0"/>
          </a:xfrm>
          <a:prstGeom prst="line">
            <a:avLst/>
          </a:prstGeom>
          <a:noFill/>
          <a:ln w="12700">
            <a:solidFill>
              <a:srgbClr val="F0D6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34656" y="1773936"/>
            <a:ext cx="3888943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复杂圈选：人工逐步查找，</a:t>
            </a:r>
            <a:r>
              <a:rPr lang="en-US" altLang="zh-CN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</a:t>
            </a:r>
            <a:r>
              <a:rPr lang="zh-CN" altLang="en-US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辅助生成方案</a:t>
            </a:r>
            <a:endParaRPr lang="zh-CN" altLang="en-US" sz="1400" b="1" dirty="0">
              <a:solidFill>
                <a:srgbClr val="C25A0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34656" y="2084578"/>
            <a:ext cx="3888943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zh-CN" alt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人工：找标签、核口径、组条件，约 0.5～1 天。</a:t>
            </a:r>
            <a:endParaRPr lang="zh-CN" altLang="en-US" sz="8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180"/>
              </a:lnSpc>
              <a:buNone/>
            </a:pPr>
            <a:r>
              <a:rPr lang="en-US" altLang="zh-CN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</a:t>
            </a:r>
            <a:r>
              <a:rPr lang="zh-CN" alt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辅助：自动匹配标签、校验条件并生成待确认方案，系统 </a:t>
            </a:r>
            <a:r>
              <a:rPr lang="en-US" altLang="zh-CN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p95 </a:t>
            </a:r>
            <a:r>
              <a:rPr lang="zh-CN" alt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响应时延 18.3 秒。</a:t>
            </a:r>
            <a:endParaRPr lang="zh-CN" altLang="en-US" sz="8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534656" y="2615184"/>
            <a:ext cx="3888943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深度分析：人工整理分析，</a:t>
            </a:r>
            <a:r>
              <a:rPr lang="en-US" altLang="zh-CN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</a:t>
            </a:r>
            <a:r>
              <a:rPr lang="zh-CN" altLang="en-US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辅助形成洞察</a:t>
            </a:r>
            <a:endParaRPr lang="zh-CN" altLang="en-US" sz="1400" b="1" dirty="0">
              <a:solidFill>
                <a:srgbClr val="C25A0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34910" y="2926080"/>
            <a:ext cx="3888740" cy="530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zh-CN" alt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人工：核对指标、分析差异、整理结论，约 1～2 天。</a:t>
            </a:r>
            <a:endParaRPr lang="zh-CN" altLang="en-US" sz="8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180"/>
              </a:lnSpc>
              <a:buNone/>
            </a:pPr>
            <a:r>
              <a:rPr lang="en-US" altLang="zh-CN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</a:t>
            </a:r>
            <a:r>
              <a:rPr lang="zh-CN" alt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辅助：汇总客群统计、生成洞察并复核数值依据，完整分析耗时待实测。</a:t>
            </a:r>
            <a:endParaRPr lang="zh-CN" altLang="en-US" sz="8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534656" y="3456432"/>
            <a:ext cx="3888943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高频任务：人工重复操作，</a:t>
            </a:r>
            <a:r>
              <a:rPr lang="en-US" altLang="zh-CN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</a:t>
            </a:r>
            <a:r>
              <a:rPr lang="zh-CN" altLang="en-US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辅助完成</a:t>
            </a:r>
            <a:endParaRPr lang="zh-CN" altLang="en-US" sz="1400" b="1" dirty="0">
              <a:solidFill>
                <a:srgbClr val="C25A0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534656" y="3767709"/>
            <a:ext cx="3888943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zh-CN" alt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人工：每人每月约 20 次圈选与分析，反复查标签、核口径、组条件。</a:t>
            </a:r>
            <a:endParaRPr lang="zh-CN" altLang="en-US" sz="8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180"/>
              </a:lnSpc>
              <a:buNone/>
            </a:pPr>
            <a:r>
              <a:rPr lang="en-US" altLang="zh-CN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</a:t>
            </a:r>
            <a:r>
              <a:rPr lang="zh-CN" alt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辅助：通过自然语言发起需求，自动完成标签匹配与方案草拟，人员集中确认关键口径和结果。</a:t>
            </a:r>
            <a:endParaRPr lang="zh-CN" altLang="en-US" sz="8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534656" y="4297680"/>
            <a:ext cx="3888943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结果校验：人工逐项核查，</a:t>
            </a:r>
            <a:r>
              <a:rPr lang="en-US" altLang="zh-CN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</a:t>
            </a:r>
            <a:r>
              <a:rPr lang="zh-CN" altLang="en-US" sz="14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执行统一规则</a:t>
            </a:r>
            <a:endParaRPr lang="zh-CN" altLang="en-US" sz="1400" b="1" dirty="0">
              <a:solidFill>
                <a:srgbClr val="C25A0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534656" y="4608957"/>
            <a:ext cx="3888943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zh-CN" alt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人工：逐项检查阈值边界、标签权限和未知值处理。</a:t>
            </a:r>
            <a:endParaRPr lang="zh-CN" altLang="en-US" sz="8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180"/>
              </a:lnSpc>
              <a:buNone/>
            </a:pPr>
            <a:r>
              <a:rPr lang="en-US" altLang="zh-CN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</a:t>
            </a:r>
            <a:r>
              <a:rPr lang="zh-CN" alt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辅助：自动拦截不合规条件</a:t>
            </a:r>
            <a:r>
              <a:rPr lang="en-US" altLang="zh-CN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altLang="zh-CN" sz="86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· Demo 演示 / 效果展示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分钟，从一句话到可建群的客群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1751533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335024"/>
            <a:ext cx="1495501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0:00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1572768"/>
            <a:ext cx="1495501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30″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94944" y="1773936"/>
            <a:ext cx="1495501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进入工作台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4944" y="2011680"/>
            <a:ext cx="1495501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对象群列表点「继续圈选」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323033" y="1810512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28189" y="1280160"/>
            <a:ext cx="1751533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56205" y="1335024"/>
            <a:ext cx="1495501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0:30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56205" y="1572768"/>
            <a:ext cx="1495501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50″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2556205" y="1773936"/>
            <a:ext cx="1495501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一句话输入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56205" y="2011680"/>
            <a:ext cx="1495501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描述客群 + 勾选 ≤5 个上下文标签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184294" y="1810512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89450" y="1280160"/>
            <a:ext cx="1751533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17466" y="1335024"/>
            <a:ext cx="1495501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1:20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17466" y="1572768"/>
            <a:ext cx="1495501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60″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4417466" y="1773936"/>
            <a:ext cx="1495501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澄清收敛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17466" y="2011680"/>
            <a:ext cx="1495501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 2–3 个口径问题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045556" y="1810512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50712" y="1280160"/>
            <a:ext cx="1751533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78728" y="1335024"/>
            <a:ext cx="1495501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2:20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78728" y="1572768"/>
            <a:ext cx="1495501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40″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278728" y="1773936"/>
            <a:ext cx="1495501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人数统计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8728" y="2011680"/>
            <a:ext cx="1495501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 编译规则 SQL，出人数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906817" y="1810512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11973" y="1280160"/>
            <a:ext cx="1751533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39989" y="1335024"/>
            <a:ext cx="1495501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3:00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139989" y="1572768"/>
            <a:ext cx="1495501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40″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139989" y="1773936"/>
            <a:ext cx="1495501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确认建群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39989" y="2011680"/>
            <a:ext cx="1495501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写回对象群列表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9768078" y="1810512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873234" y="1280160"/>
            <a:ext cx="1751533" cy="1060704"/>
          </a:xfrm>
          <a:prstGeom prst="roundRect">
            <a:avLst>
              <a:gd name="adj" fmla="val 5172"/>
            </a:avLst>
          </a:prstGeom>
          <a:solidFill>
            <a:srgbClr val="FCEEE0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001250" y="1335024"/>
            <a:ext cx="1495501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3:40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001250" y="1572768"/>
            <a:ext cx="1495501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80″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10001250" y="1773936"/>
            <a:ext cx="1495501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洞察包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001250" y="2011680"/>
            <a:ext cx="1495501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五段卡 + 图表，导出 SVG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66928" y="2505456"/>
            <a:ext cx="5437480" cy="3529584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749808" y="5413248"/>
            <a:ext cx="50717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圈选工作台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49808" y="5650992"/>
            <a:ext cx="507172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左侧自然语言对话，右侧「圈选方案 / 洞察」双栏；顶部实时显示「条件已核验」。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6187288" y="2505456"/>
            <a:ext cx="5437480" cy="3529584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pic>
        <p:nvPicPr>
          <p:cNvPr id="44" name="Image 1" descr=".pptx-build/assets/shot-ins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7016" y="2615184"/>
            <a:ext cx="5218024" cy="269748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370168" y="5413248"/>
            <a:ext cx="50717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洞察报告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6370168" y="5650992"/>
            <a:ext cx="507172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五段结构（事实 / 对比 / 诊断·规则 / 行动 / 证据与边界）+ KPI 与图表，逐图可导出。</a:t>
            </a:r>
            <a:endParaRPr lang="en-US" sz="860" dirty="0"/>
          </a:p>
        </p:txBody>
      </p:sp>
      <p:sp>
        <p:nvSpPr>
          <p:cNvPr id="47" name="Text 43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00" dirty="0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" y="2613660"/>
            <a:ext cx="5280660" cy="26993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· 工程化与落地可行性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不换系统，长出第五条能力链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64101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353312"/>
            <a:ext cx="227525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+ 4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9808" y="1755648"/>
            <a:ext cx="227525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Maven 模块 + Python 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993392"/>
            <a:ext cx="227525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既有 9 个模块之上，新增 semantic / agent / insight / eval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372536" y="1243584"/>
            <a:ext cx="264101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55416" y="1353312"/>
            <a:ext cx="227525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张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555416" y="1755648"/>
            <a:ext cx="227525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55416" y="1993392"/>
            <a:ext cx="227525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ts_* 17 张、tl_* 9 张、dp_* 12 张，增量迁移走 db-migrate.sh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178144" y="1243584"/>
            <a:ext cx="264101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1024" y="1353312"/>
            <a:ext cx="227525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391 项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361024" y="1755648"/>
            <a:ext cx="227525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自动化测试全通过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61024" y="1993392"/>
            <a:ext cx="227525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 189 · Python 74 · 洞察 64 · React 59 · Playwright 5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8983751" y="1243584"/>
            <a:ext cx="264101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66631" y="1353312"/>
            <a:ext cx="227525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条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166631" y="1755648"/>
            <a:ext cx="227525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部署流水线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66631" y="1993392"/>
            <a:ext cx="227525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 → 增量迁移 → 发布 → 健康检查 / 回滚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66928" y="292608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三个真实障碍，都有兜底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218688"/>
            <a:ext cx="11057839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3310128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模型不可用或超时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67328" y="3346704"/>
            <a:ext cx="0" cy="621792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0208" y="3328416"/>
            <a:ext cx="7455103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预算分级：软 40s / 硬 90s；降级 L2/L3/L4 各有明确出口，前端以琥珀提示展示「部分完成」。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187952"/>
            <a:ext cx="11057839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8096" y="4279392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权限与资格会在线上漂移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67328" y="4315968"/>
            <a:ext cx="0" cy="621792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50208" y="4297680"/>
            <a:ext cx="7455103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资格在每次检索时重算，只收紧不放宽；权限永不写入快照或索引；浏览器不直连 Python。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5157216"/>
            <a:ext cx="11057839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8096" y="5248656"/>
            <a:ext cx="28346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小样本与合规风险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67328" y="5285232"/>
            <a:ext cx="0" cy="621792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50208" y="5266944"/>
            <a:ext cx="7455103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任一格 &lt; 20 人整组抑制；对比要求双侧有效样本 ≥ 30；洞察不下发名单、不建群、不派任务。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依赖：Spring Boot 2.5.15 / JDK 8 / MyBatis / MySQL 8 / Redis · Vue 2.6.12 + Element UI 2.15.14 · React 19 + assistant-ui · Python 3.11+ / FastAPI · BGE-M3 + Milvus · claude-agent-sdk 0.1.50。接入沿用若依 RBAC（@PreAuthorize + @DataScope）与统一响应；/agent 为隐藏路由，不改动既有菜单与业务表结构。来源：AGENTS.md；sql/ 全量 CREATE TABLE 统计；.github/workflows/deploy.yml。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· 后续计划与团队分工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从「本地已验证」推到「生产可验收」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3564026" cy="2999232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353312"/>
            <a:ext cx="316169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短期 · 1–2 个月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" y="1700784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847088"/>
            <a:ext cx="201168" cy="201168"/>
          </a:xfrm>
          <a:prstGeom prst="ellipse">
            <a:avLst/>
          </a:prstGeom>
          <a:solidFill>
            <a:srgbClr val="C25A0E"/>
          </a:solidFill>
          <a:ln w="12700">
            <a:solidFill>
              <a:srgbClr val="C25A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84708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0704" y="1828800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完成整链验收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0704" y="2048256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 Java 迁移 + 真实 MySQL + 已认证 HTTP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68096" y="2432304"/>
            <a:ext cx="201168" cy="201168"/>
          </a:xfrm>
          <a:prstGeom prst="ellipse">
            <a:avLst/>
          </a:prstGeom>
          <a:solidFill>
            <a:srgbClr val="C25A0E"/>
          </a:solidFill>
          <a:ln w="12700">
            <a:solidFill>
              <a:srgbClr val="C25A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4323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" y="2414016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发布首批洞察技能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" y="2633472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登记真实指标绑定（当前 3 个技能均为 DRAFT）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68096" y="3017520"/>
            <a:ext cx="201168" cy="201168"/>
          </a:xfrm>
          <a:prstGeom prst="ellipse">
            <a:avLst/>
          </a:prstGeom>
          <a:solidFill>
            <a:srgbClr val="C25A0E"/>
          </a:solidFill>
          <a:ln w="12700">
            <a:solidFill>
              <a:srgbClr val="C25A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01752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" y="2999232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补齐两篇交付缺口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0704" y="3218688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AudienceQueryDSL 规范、与原系统的接口清单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68096" y="3602736"/>
            <a:ext cx="201168" cy="201168"/>
          </a:xfrm>
          <a:prstGeom prst="ellipse">
            <a:avLst/>
          </a:prstGeom>
          <a:solidFill>
            <a:srgbClr val="C25A0E"/>
          </a:solidFill>
          <a:ln w="12700">
            <a:solidFill>
              <a:srgbClr val="C25A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60273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0704" y="3584448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工作台管理页视觉验收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60704" y="3803904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补一次真实页面验收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313834" y="1243584"/>
            <a:ext cx="3564026" cy="2999232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15002" y="1353312"/>
            <a:ext cx="316169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 · 3–6 个月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15002" y="1700784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5002" y="1847088"/>
            <a:ext cx="201168" cy="201168"/>
          </a:xfrm>
          <a:prstGeom prst="ellipse">
            <a:avLst/>
          </a:prstGeom>
          <a:solidFill>
            <a:srgbClr val="A87A10"/>
          </a:solidFill>
          <a:ln w="12700">
            <a:solidFill>
              <a:srgbClr val="A87A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5002" y="184708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7610" y="1828800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标签规模扩到行内实际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7610" y="2048256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969 → 2,828（脱敏全量）→ 3,396（行内实际）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515002" y="2432304"/>
            <a:ext cx="201168" cy="201168"/>
          </a:xfrm>
          <a:prstGeom prst="ellipse">
            <a:avLst/>
          </a:prstGeom>
          <a:solidFill>
            <a:srgbClr val="A87A10"/>
          </a:solidFill>
          <a:ln w="12700">
            <a:solidFill>
              <a:srgbClr val="A87A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5002" y="24323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7610" y="2414016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线上反馈自动回灌评测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7610" y="2633472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当前该环节未自动化，反馈未进评测包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515002" y="3017520"/>
            <a:ext cx="201168" cy="201168"/>
          </a:xfrm>
          <a:prstGeom prst="ellipse">
            <a:avLst/>
          </a:prstGeom>
          <a:solidFill>
            <a:srgbClr val="A87A10"/>
          </a:solidFill>
          <a:ln w="12700">
            <a:solidFill>
              <a:srgbClr val="A87A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5002" y="301752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7610" y="2999232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补齐稳定性复跑与容量压测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7610" y="3218688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 300 次，实际完成 42 次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515002" y="3602736"/>
            <a:ext cx="201168" cy="201168"/>
          </a:xfrm>
          <a:prstGeom prst="ellipse">
            <a:avLst/>
          </a:prstGeom>
          <a:solidFill>
            <a:srgbClr val="A87A10"/>
          </a:solidFill>
          <a:ln w="12700">
            <a:solidFill>
              <a:srgbClr val="A87A1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15002" y="360273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7610" y="3584448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根因簇扩到 20 个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7610" y="3803904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并重跑 P2 全量 L2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060741" y="1243584"/>
            <a:ext cx="3564026" cy="2999232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61909" y="1353312"/>
            <a:ext cx="316169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261909" y="1700784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61909" y="1847088"/>
            <a:ext cx="201168" cy="201168"/>
          </a:xfrm>
          <a:prstGeom prst="ellipse">
            <a:avLst/>
          </a:prstGeom>
          <a:solidFill>
            <a:srgbClr val="5B4F43"/>
          </a:solidFill>
          <a:ln w="12700">
            <a:solidFill>
              <a:srgbClr val="5B4F4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61909" y="184708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54517" y="1828800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接入行内客群 / 营销系统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54517" y="2048256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把「评测门禁 → 复核 → 发布」固化为常规流程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261909" y="2432304"/>
            <a:ext cx="201168" cy="201168"/>
          </a:xfrm>
          <a:prstGeom prst="ellipse">
            <a:avLst/>
          </a:prstGeom>
          <a:solidFill>
            <a:srgbClr val="5B4F43"/>
          </a:solidFill>
          <a:ln w="12700">
            <a:solidFill>
              <a:srgbClr val="5B4F4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61909" y="24323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54517" y="2414016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完成银行在岗人员口径签署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54517" y="2633472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 human_bank_signoff = false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8261909" y="3017520"/>
            <a:ext cx="201168" cy="201168"/>
          </a:xfrm>
          <a:prstGeom prst="ellipse">
            <a:avLst/>
          </a:prstGeom>
          <a:solidFill>
            <a:srgbClr val="5B4F43"/>
          </a:solidFill>
          <a:ln w="12700">
            <a:solidFill>
              <a:srgbClr val="5B4F4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61909" y="301752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554517" y="2999232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沉淀可复用的语义层方法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554517" y="3218688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事实冻结 → 生成 → 诊断 → 受控变更 → 对照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8261909" y="3602736"/>
            <a:ext cx="201168" cy="201168"/>
          </a:xfrm>
          <a:prstGeom prst="ellipse">
            <a:avLst/>
          </a:prstGeom>
          <a:solidFill>
            <a:srgbClr val="5B4F43"/>
          </a:solidFill>
          <a:ln w="12700">
            <a:solidFill>
              <a:srgbClr val="5B4F4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61909" y="360273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554517" y="3584448"/>
            <a:ext cx="2850794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洞察技能扩到更多经营场景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554517" y="3803904"/>
            <a:ext cx="285079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 3 个，并补齐稳定性复跑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566928" y="4407408"/>
            <a:ext cx="11057839" cy="1371600"/>
          </a:xfrm>
          <a:prstGeom prst="roundRect">
            <a:avLst>
              <a:gd name="adj" fmla="val 3333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6384" y="449884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团队分工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86384" y="4773168"/>
            <a:ext cx="342991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32688" y="4846320"/>
            <a:ext cx="313730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队长 / 业务负责</a:t>
            </a:r>
            <a:endParaRPr lang="en-US" sz="960" dirty="0"/>
          </a:p>
        </p:txBody>
      </p:sp>
      <p:sp>
        <p:nvSpPr>
          <p:cNvPr id="65" name="Text 63"/>
          <p:cNvSpPr/>
          <p:nvPr/>
        </p:nvSpPr>
        <p:spPr>
          <a:xfrm>
            <a:off x="932688" y="5065776"/>
            <a:ext cx="313730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32688" y="5303520"/>
            <a:ext cx="313730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业务场景定义、口径裁定、对外沟通、验收标准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4380890" y="4773168"/>
            <a:ext cx="342991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527194" y="4846320"/>
            <a:ext cx="313730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技术负责</a:t>
            </a:r>
            <a:endParaRPr lang="en-US" sz="960" dirty="0"/>
          </a:p>
        </p:txBody>
      </p:sp>
      <p:sp>
        <p:nvSpPr>
          <p:cNvPr id="69" name="Text 67"/>
          <p:cNvSpPr/>
          <p:nvPr/>
        </p:nvSpPr>
        <p:spPr>
          <a:xfrm>
            <a:off x="4527194" y="5065776"/>
            <a:ext cx="313730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27194" y="5303520"/>
            <a:ext cx="313730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语义检索与 Agent 编排、Guard 校验、工程化与部署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7975397" y="4773168"/>
            <a:ext cx="3429914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8121701" y="4846320"/>
            <a:ext cx="313730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 / 演示</a:t>
            </a:r>
            <a:endParaRPr lang="en-US" sz="960" dirty="0"/>
          </a:p>
        </p:txBody>
      </p:sp>
      <p:sp>
        <p:nvSpPr>
          <p:cNvPr id="73" name="Text 71"/>
          <p:cNvSpPr/>
          <p:nvPr/>
        </p:nvSpPr>
        <p:spPr>
          <a:xfrm>
            <a:off x="8121701" y="5065776"/>
            <a:ext cx="313730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121701" y="5303520"/>
            <a:ext cx="313730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交付文档、评测报告整理、路演材料与演示录制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说明：队伍名称与成员姓名请在交付前替换本页与封面上的「待填」。计划项状态取自仓库自述缺口（docs/交付文档/README.md 等）。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· 总结与价值回顾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三个亮点，都是可复核的数字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1057839" cy="859536"/>
          </a:xfrm>
          <a:prstGeom prst="roundRect">
            <a:avLst>
              <a:gd name="adj" fmla="val 6383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3502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我们做的事情，一句话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536192"/>
            <a:ext cx="10582351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为银行个人客户经营条线的客户经理，把「翻目录、对口径、取数、找基准」四步手工链路，收成一个可核验的动作：一句话产出可统计、可建群、可复核的客群方案与洞察报告。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564026" cy="2706624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414016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4140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33856" y="2414016"/>
            <a:ext cx="27959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自然语言检索标签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" y="2834640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926080"/>
            <a:ext cx="3161690" cy="43891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0.9907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68096" y="3364992"/>
            <a:ext cx="316169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Recall@20（原子条件微平均 0.9936）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68096" y="3639312"/>
            <a:ext cx="3161690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六通道召回 + RRF(k=60) + BGE 重排，全程资格内检索。600 题封存集上幻觉标签 0/1200、越权标签 0/1200。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313834" y="2286000"/>
            <a:ext cx="3564026" cy="2706624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15002" y="2414016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5002" y="24140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80762" y="2414016"/>
            <a:ext cx="27959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客群洞察 Skill 体系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15002" y="2834640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5002" y="2926080"/>
            <a:ext cx="3161690" cy="43891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24 / 4 / 6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4515002" y="3364992"/>
            <a:ext cx="316169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 / 指标定义 / 基准 / 图表原子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515002" y="3639312"/>
            <a:ext cx="3161690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内容即代码的版本化技能包。数字只来自事实登记表；Wilson 区间由 Guard 独立重算；任一格 &lt; 20 人整组抑制。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060741" y="2286000"/>
            <a:ext cx="3564026" cy="2706624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61909" y="2414016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1909" y="24140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27669" y="2414016"/>
            <a:ext cx="27959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评测与反馈数据飞轮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61909" y="2834640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1909" y="2926080"/>
            <a:ext cx="3161690" cy="43891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1,994 / 186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8261909" y="3364992"/>
            <a:ext cx="316169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合成评测案例 / 受控变更包操作数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261909" y="3639312"/>
            <a:ext cx="3161690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9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P2 诊断出 8 个根因簇 → P3 生成 3 个受控变更包 → 新快照新索引 → A/B/C/D 对照，固定 100 例 Demo 全通过。缺的是线上反馈自动回灌。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66928" y="5193792"/>
            <a:ext cx="11057839" cy="822960"/>
          </a:xfrm>
          <a:prstGeom prst="roundRect">
            <a:avLst>
              <a:gd name="adj" fmla="val 5556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5266944"/>
            <a:ext cx="10655503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诚实边界（我们主动说，也请评委按这个口径提问）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68096" y="5449824"/>
            <a:ext cx="10655503" cy="493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已完成：本地实现 + 固定合成验证 + 封存集零违规。尚未完成：真实 MySQL / 已认证整链验收、洞察技能的真实指标绑定与发布（3 个技能仍为 DRAFT）、稳定性复跑（NOT_MEASURED）、L3 Java 执行（NOT_APPLICABLE）、银行在岗人员口径签署（human_bank_signoff = false）。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来源：本页所有数字与前文各页脚注一致。亮点三的「186 条操作」为三轮受控变更包合计（业务概念 10 / 字段语义 9 / 别名 56 / 正反例 75 / 概念候选关联 19 / 业务词典 17）。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· Q&amp;A 常见问题参考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五个最可能被问到的，给可复核的回答方向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37160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35331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0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创新点在哪儿？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4370832" y="137160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133502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差异化在「口径」而不是「生成」：跨桶阈值不可近似（INEXPRESSIBLE），负向条件的未知码值必须显式声明策略，资格在检索时重算且只收紧不放宽。同类方案多数只做到「检索到标签」，我们做到了「口径可复核 + 越权不可能」。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37744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25296" y="235915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0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技术选型为什么这么选？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370832" y="237744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234086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Java 继续持有身份、资格、发布版本、编译、统计、建群六项权威，因此业务系统零改造；Python 只消费不可变快照 + Java 算好的资格集合，浏览器不直连 Python。检索用 BGE-M3 + Milvus，编排用 Claude Agent SDK 单 Agent 循环（旧 LangGraph 图已删除，不能通过环境变量切回）。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38328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25296" y="336499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0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数据从哪来？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370832" y="338328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334670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三类：① 标签事实来自仓库 SQL 与脱敏版标签库结构（969 上线标签口径）；② 评测案例为合成生成（500 母案例 × 4 = 2,000，隔离 6 条后交付 1,994），绑定仓库 SQL 与 2,000 名模拟客户 fixture；③ 洞察数字来自固定合成聚合，声明 synthetic=true。600 题封存集由已复核快照构造，不是第三方独立 Gold。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66928" y="426110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438912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25296" y="437083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0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怎么保证准确性？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370832" y="438912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435254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五维确定性 Guard（来源 / 数值 / 时间 / 冻结条件 / 需求覆盖）+ 结构化条件树 + 检索时重算资格 + auto_execute 恒为 false。实测：幻觉标签 0/1200、越权标签 0/1200、错误自动执行 0/600；洞察侧 Wilson 区间由 Guard 独立重算，容差 0.01。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66928" y="526694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" y="539496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25296" y="537667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06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能落地吗？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4370832" y="539496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535838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工程化已就位：9 个 Maven 模块 + 4 个 Python 包、76 张表、391 项测试全通过、一条部署流水线。风险点也明确：模型超时用预算分级与 L2/L3/L4 降级兜住；权限漂移用「检索时重算、只收紧」兜住；合规用小样本整组抑制与不派名单兜住。尚未完成的整链验收与银行签署已在计划里。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备注：本页为答辩备用页，正式路演时可直接跳到末页。所有回答均可在仓库中找到出处 —— 见前文各页脚注列出的报告与代码路径。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附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pptx-build/assets/hero-dis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17320"/>
            <a:ext cx="5669280" cy="5669280"/>
          </a:xfrm>
          <a:prstGeom prst="rect">
            <a:avLst/>
          </a:prstGeom>
        </p:spPr>
      </p:pic>
      <p:pic>
        <p:nvPicPr>
          <p:cNvPr id="3" name="Image 1" descr=".pptx-build/assets/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5488"/>
            <a:ext cx="61264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16736" y="53035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</a:t>
            </a:r>
            <a:endParaRPr lang="en-US" sz="1900" dirty="0"/>
          </a:p>
        </p:txBody>
      </p:sp>
      <p:sp>
        <p:nvSpPr>
          <p:cNvPr id="5" name="Text 1"/>
          <p:cNvSpPr/>
          <p:nvPr/>
        </p:nvSpPr>
        <p:spPr>
          <a:xfrm>
            <a:off x="566928" y="2331720"/>
            <a:ext cx="7315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566928" y="3072384"/>
            <a:ext cx="7315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感谢聆听，欢迎提问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566928" y="371246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 战队 · 客群圈选与洞察场景下的标签智能体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66928" y="4224528"/>
            <a:ext cx="3931920" cy="0"/>
          </a:xfrm>
          <a:prstGeom prst="line">
            <a:avLst/>
          </a:prstGeom>
          <a:noFill/>
          <a:ln w="12700">
            <a:solidFill>
              <a:srgbClr val="E0D3C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" y="4370832"/>
            <a:ext cx="69494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一个可以现场验证的请求：请任给一句中文客户描述，我们现场跑一遍完整链路。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66928" y="50474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2026-09-30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6950</Words>
  <Application>WPS 演示</Application>
  <PresentationFormat>On-screen Show (16:9)</PresentationFormat>
  <Paragraphs>647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Cambria</vt:lpstr>
      <vt:lpstr>Cambria</vt:lpstr>
      <vt:lpstr>Cambria</vt:lpstr>
      <vt:lpstr>微软雅黑</vt:lpstr>
      <vt:lpstr>Calibri</vt:lpstr>
      <vt:lpstr>Helvetica Neue</vt:lpstr>
      <vt:lpstr>苹方-简</vt:lpstr>
      <vt:lpstr>宋体</vt:lpstr>
      <vt:lpstr>Arial Unicode MS</vt:lpstr>
      <vt:lpstr>宋体-简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TagPilot 战队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TagPilot — 客群圈选与洞察场景下的标签智能体</dc:title>
  <dc:creator>TagPilot 战队</dc:creator>
  <dc:subject>2026 智能体挑战赛 路演</dc:subject>
  <cp:lastModifiedBy>zhenshan Wei</cp:lastModifiedBy>
  <cp:revision>82</cp:revision>
  <dcterms:created xsi:type="dcterms:W3CDTF">2026-09-30T07:13:56Z</dcterms:created>
  <dcterms:modified xsi:type="dcterms:W3CDTF">2026-09-30T07:13:56Z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114EE296B41736EB3791BC6ABFF0B608_42</vt:lpwstr>
  </property>
  <property fmtid="{D5CDD505-2E9C-101B-9397-08002B2CF9AE}" pid="3" name="KSOProductBuildVer">
    <vt:lpwstr>2052-12.1.26050.26050</vt:lpwstr>
  </property>
</Properties>
</file>